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energy. This is a 30-second slide.
Say: "Today we're going to look at two AKS features that work better together than apart — Application Gateway for Containers, and Node Auto Provisioning. By the end of the next 20 minutes you'll know what each one does, why teams reach for them, and you'll have watched them actually do their job on a real cluster."
Don't read the subtitle — let it sit. Move to next slide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people decide whether to lean in. Slow down.
Do a real "show of hands" — ask:
  • Has anyone been paged at 2am because pods were Pending and nobody knew what VM to add?
  • Has anyone paid for a node pool that ran all weekend because a job finished Friday at 5pm?
  • Has anyone written "temporary" YAML that's now three years old?
When 3+ hands go up, say: "Right — these are the three flavors of pain NAP solves. Karpenter people sometimes call them Scenario 1, 2, 3. Hold those numbers — we'll see all three happen on a real cluster in the next 10 minutes."
Don't go past this slide until at least one head nods.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like a story, not a slide.
"Picture Contoso Retail. They run shop.contoso.com on AKS. Tonight at 8pm marketing sends 2 million people a flash-sale email. Traffic will jump 5x in minutes. The on-call engineer is at dinner. They cannot babysit this."
Then walk the right-hand panel: Sizing → Scenario 2 → Speed → Scenario 1 → Cost → Scenario 3. Land on the bottom italic line slowly.
This slide is the emotional anchor. The CFO and the SRE both see themselves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structure: definition on the left, mechanism on the right.
Read the one-sentence definition out loud — slowly. It's the most important sentence in the deck.
"NAP is built on open-source Karpenter — same tech AWS users have run for years — but managed by AKS. You don't install a controller, you don't patch it, you don't run helm charts. You flip a flag on the cluster."
Then walk the 4 steps: Watch → Decide → Provision → Reclaim. Pace yourself — one breath per step.
If someone asks "is this Cluster Autoscaler?" — say "Cluster Autoscaler scales pre-existing node pools up and down. NAP creates the node pool itself, picks the SKU, and removes nodes when they're idle. It replaces CA, it doesn't extend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"best kept secret" of NAP — beyond simple autoscaling.
Walk the right-hand visual: "This is ONE node pool. The dashed box is the boundary. Inside, NAP has provisioned five different VMs — three D-family (general purpose) and two E-family (memory). It picked each one by looking at the pods that landed at that moment. There is NO separate pool per SKU."
Why this matters in plain words: "If you've ever managed a cluster with seven node pools — small-cpu, big-cpu, small-mem, big-mem, gpu-t4, gpu-a10, batch-spot — that's the pain NAP makes go away. One pool. One YAML."
Numbers to drop if asked: a customer with 9 hand-tuned pools collapsed to 1 NAP pool typically sees ~25-40% fewer idle vCPU-hours from better bin-packing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"does it play with what I already have?" slide. Most NAP questions land here.
Walk left to right:
LEFT (HPA/VPA/KEDA): "NAP doesn't replace your pod autoscalers. HPA scales pods up. VPA tunes their requests. KEDA scales them on external events — Service Bus depth, Kafka lag, cron, even GitHub Actions queue. NAP sits underneath all of that and adds machines when those scalers ask for more pods than fit."
MIDDLE (Spot): "Spot VMs are surplus Azure capacity sold cheap — up to 90% off. The catch is Azure can take them back with ~30 seconds notice. NAP handles the eviction signal, drains the node, and replaces it with on-demand if needed. Perfect for batch, dev/test, and ML training. Just add 'spot' to capacity-type."
RIGHT (Arch): "And NAP is arch-aware. You can run Intel, AMD, and ARM64 — Cobalt — in the same cluster. Karpenter looks at the container image manifest and places each pod on the arch it supports. ARM64 is typically 30-40% cheaper for stateless workloads."
If a customer is cost-sensitive, the headline is: "Spot + ARM + NAP consolidation, layered, regularly cuts AKS bills 40-60%."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"but how do I keep control?" slide. SREs always ask it.
Walk the four cards:
  • Taints — "force pods to opt in". Classic use: a GPU pool you don't want random workloads landing on.
  • Affinity — "prefer this kind of node". Licensing pinning, locality.
  • Anti-affinity — "spread my replicas". HA, blast-radius reduction.
  • Topology spread — "balance across zones". Built-in multi-AZ resilience.
Then point at the code: "Same primitives as Cluster Autoscaler. Karpenter respects taints, tolerations, affinity, topology spread, PDBs — everything. NAP is not a replacement vocabulary, it's the same Kubernetes primitives, just executed faster and without pre-allocated capacity."
If someone asks about consolidationPolicy / disruption budgets / do-not-disrupt — point them at the docs link on the last slide. Don't go deep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"NAP gave us machines. AGC gives us traffic management on top."
The killer line: "AGC is not a round-robin load balancer." Most ingress controllers — including the older Application Gateway Ingress Controller — split traffic evenly across all pods. AGC tracks pod load and weights new connections toward cool pods.
Walk the visual: "Round-robin: every pod gets 25% — warm ones stay warm, get warmer, eventually 5xx. AGC: that 10% pod is the original warm one, the 40% pods are the freshly-provisioned ones soaking up the burst. Same backend pool. Different math."
Then say "and you provision it with a Gateway YAML — no portal click. The ALB Controller calls Azure ARM for you. We'll see this on the cluster in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AGC "punchline" for AI/ML audiences. Spend a minute here, not 30 seconds.
Set it up: "Standard ingress controllers can tell you 'this pod is alive.' AGC's Inference Gateway can tell you 'this pod is alive AND its GPU is at 50% AND the pod next to it is at 0%.' That changes which pod gets the next request."
Walk the visual:
  • "Three pods, all healthy. AGC pulls live metrics — CPU, memory, GPU — straight from the pod."
  • "Pod A is idle. Pod C is at 50%. Watch the arrow weights: thick arrow to A, medium to B, thin to C."
  • "The next inference request lands on Pod A. Pod C keeps finishing what it's already doing."
Then the ORCA line: "How does it know? Pods publish ORCA — Open Request Cost Aggregation — load reports. Standard, open spec. AGC reads them. No custom telemetry pipeline."
Right column — the four use cases:
  • AI/ML: token generation rates vary wildly per request. Round-robin guarantees a long request lands on a busy pod.
  • Microservices: anything where p99 matters more than throughput.
  • Cost: people over-provision pods to mask hot ones — load-aware routing lets you run leaner.
  • Low latency: trading, real-time inference, gaming session backends.
Note: this is in PRIVATE PREVIEW today. If a customer is interested, take a name and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"memorize one picture" slide. If they remember nothing else, they remember this diagram.
Walk it left to right, slowly:
  1. "Pending pods on the far left — they want to run, but nowhere fits them."
  2. "Karpenter (the K hexagon) reads what they need, picks the right SKU and provisions a node."
  3. "Bin-packed cluster on the top right — 77% utilization. No empty nodes."
  4. "Application Gateway for Containers on the far right — sees pod load, sends new traffic to the cool pods (the green bar at 9%) instead of pounding the hot ones at 77%."
Then say: "Two control loops. They never knew about each other. They never had to. That's the whole architecture." Pause.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"make 'em gasp" slide. Be quiet for two seconds after revealing it.
Then say:
  • "sku-family — I'm telling Karpenter it can pick anything in the D family or the E family. Not a SKU. A FAMILY. It picks the size."
  • "capacity-type — on-demand and spot. Mix freely. Karpenter prefers spot when the pod can tolerate eviction."
  • "consolidationPolicy: WhenUnderutilized — the dollar saver. The moment a node has free room and another node can absorb its pods, this one gets drained and deleted."
Land on the bottom italic line: "No min/max counts. No SKU list. No second node pool. The cluster does the rest." That's your applause line —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CFO and the SRE both nod. Land it carefully.
Lead with the dollar figure on the left, then pivot to the right: "but the dollars aren't actually the savings. The savings are on the right."
Read the right column slowly, ONE LINE at a time:
  • "Nobody got paged at 11pm."   — pause —
  • "Nobody approved a node-pool PR after dinner." — pause —
  • etc.
End on "The on-call engineer slept." Pause. Then the closer: "That is the actual savings. The dollars are the proof."
If someone asks "what's the real number on a real cluster?" — say "Customers running NAP + Spot + consolidation typically report 30-50% reduction in compute spend within the first month, with no migration project. The Contoso example is one tiny slice of one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sets expectations before you switch to the terminal.
"We're going to do this in three acts. Each act has a 'pause moment' — that's when you should look up at me, not the screen, because that's when something just happened that took zero of my keystrokes."
Act 1 = sizing (Scenario 2). Act 2 = speed (Scenario 1). Act 3 = cost (Scenario 3).
Then say: "Here we go — switching to terminal."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Energy down, warmth up.
"So — NAP for compute, AGC for traffic. Two control loops, one self-managing cluster, and a team that gets their evenings back."
If there's time for Q&amp;A, this is where you take it. Common questions to expect:
  • "Can I migrate from CAS to NAP?" → Yes, NAP can coexist with classic node pools, migrate one workload at a time.
  • "Does NAP support GPU?" → Yes, including NC, ND, and NV families. Use a taint to keep non-GPU workloads off.
  • "What about Windows?" → NAP is Linux-only today. Roadmap item.
  • "Is AGC GA?" → Yes, GA in 2024. ALB Controller is open-source.
End by pointing at the QR code area / repo URL: "Everything we just did is in this repo. Clone it, run it, send me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238"/>
        </a:solidFill>
      </p:bgPr>
    </p:bg>
    <p:spTree>
      <p:nvGrpSpPr>
        <p:cNvPr id="1" name=""/>
        <p:cNvGrpSpPr/>
        <p:nvPr/>
      </p:nvGrpSpPr>
      <p:grpSpPr>
        <a:xfrm>
          <a:off x="0" y="0"/>
          <a:ext cx="0" cy="0"/>
          <a:chOff x="0" y="0"/>
          <a:chExt cx="0" cy="0"/>
        </a:xfrm>
      </p:grpSpPr>
      <p:sp>
        <p:nvSpPr>
          <p:cNvPr id="2" name="Shape 0"/>
          <p:cNvSpPr/>
          <p:nvPr/>
        </p:nvSpPr>
        <p:spPr>
          <a:xfrm>
            <a:off x="8229600" y="0"/>
            <a:ext cx="3959352" cy="6858000"/>
          </a:xfrm>
          <a:prstGeom prst="rect">
            <a:avLst/>
          </a:prstGeom>
          <a:solidFill>
            <a:srgbClr val="065A82"/>
          </a:solidFill>
          <a:ln w="12700">
            <a:solidFill>
              <a:srgbClr val="333333"/>
            </a:solidFill>
            <a:prstDash val="solid"/>
          </a:ln>
        </p:spPr>
      </p:sp>
      <p:sp>
        <p:nvSpPr>
          <p:cNvPr id="3" name="Shape 1"/>
          <p:cNvSpPr/>
          <p:nvPr/>
        </p:nvSpPr>
        <p:spPr>
          <a:xfrm>
            <a:off x="8229600" y="0"/>
            <a:ext cx="164592" cy="6858000"/>
          </a:xfrm>
          <a:prstGeom prst="rect">
            <a:avLst/>
          </a:prstGeom>
          <a:solidFill>
            <a:srgbClr val="5EA0EF"/>
          </a:solidFill>
          <a:ln w="12700">
            <a:solidFill>
              <a:srgbClr val="333333"/>
            </a:solidFill>
            <a:prstDash val="solid"/>
          </a:ln>
        </p:spPr>
      </p:sp>
      <p:sp>
        <p:nvSpPr>
          <p:cNvPr id="4" name="Text 2"/>
          <p:cNvSpPr/>
          <p:nvPr/>
        </p:nvSpPr>
        <p:spPr>
          <a:xfrm>
            <a:off x="640080" y="1463040"/>
            <a:ext cx="7315200" cy="1280160"/>
          </a:xfrm>
          <a:prstGeom prst="rect">
            <a:avLst/>
          </a:prstGeom>
          <a:noFill/>
          <a:ln/>
        </p:spPr>
        <p:txBody>
          <a:bodyPr wrap="square" rtlCol="0" anchor="ctr"/>
          <a:lstStyle/>
          <a:p>
            <a:pPr indent="0" marL="0">
              <a:buNone/>
            </a:pPr>
            <a:r>
              <a:rPr lang="en-US" sz="7200" b="1" dirty="0">
                <a:solidFill>
                  <a:srgbClr val="FFFFFF"/>
                </a:solidFill>
                <a:latin typeface="Calibri" pitchFamily="34" charset="0"/>
                <a:ea typeface="Calibri" pitchFamily="34" charset="-122"/>
                <a:cs typeface="Calibri" pitchFamily="34" charset="-120"/>
              </a:rPr>
              <a:t>AGC + NAP</a:t>
            </a:r>
            <a:endParaRPr lang="en-US" sz="7200" dirty="0"/>
          </a:p>
        </p:txBody>
      </p:sp>
      <p:sp>
        <p:nvSpPr>
          <p:cNvPr id="5" name="Text 3"/>
          <p:cNvSpPr/>
          <p:nvPr/>
        </p:nvSpPr>
        <p:spPr>
          <a:xfrm>
            <a:off x="640080" y="2788920"/>
            <a:ext cx="7315200" cy="640080"/>
          </a:xfrm>
          <a:prstGeom prst="rect">
            <a:avLst/>
          </a:prstGeom>
          <a:noFill/>
          <a:ln/>
        </p:spPr>
        <p:txBody>
          <a:bodyPr wrap="square" rtlCol="0" anchor="ctr"/>
          <a:lstStyle/>
          <a:p>
            <a:pPr indent="0" marL="0">
              <a:buNone/>
            </a:pPr>
            <a:r>
              <a:rPr lang="en-US" sz="2600" i="1" dirty="0">
                <a:solidFill>
                  <a:srgbClr val="CADCFC"/>
                </a:solidFill>
                <a:latin typeface="Calibri" pitchFamily="34" charset="0"/>
                <a:ea typeface="Calibri" pitchFamily="34" charset="-122"/>
                <a:cs typeface="Calibri" pitchFamily="34" charset="-120"/>
              </a:rPr>
              <a:t>Right-size your nodes. Right-route your traffic.</a:t>
            </a:r>
            <a:endParaRPr lang="en-US" sz="2600" dirty="0"/>
          </a:p>
        </p:txBody>
      </p:sp>
      <p:sp>
        <p:nvSpPr>
          <p:cNvPr id="6" name="Text 4"/>
          <p:cNvSpPr/>
          <p:nvPr/>
        </p:nvSpPr>
        <p:spPr>
          <a:xfrm>
            <a:off x="640080" y="3657600"/>
            <a:ext cx="7315200" cy="109728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beginner-friendly companion to the live demo of</a:t>
            </a:r>
            <a:endParaRPr lang="en-US" sz="1600" dirty="0"/>
          </a:p>
          <a:p>
            <a:pPr indent="0" marL="0">
              <a:buNone/>
            </a:pPr>
            <a:r>
              <a:rPr lang="en-US" sz="1600" dirty="0">
                <a:solidFill>
                  <a:srgbClr val="CADCFC"/>
                </a:solidFill>
                <a:latin typeface="Calibri" pitchFamily="34" charset="0"/>
                <a:ea typeface="Calibri" pitchFamily="34" charset="-122"/>
                <a:cs typeface="Calibri" pitchFamily="34" charset="-120"/>
              </a:rPr>
              <a:t>Azure Application Gateway for Containers + Node Auto Provisioning on AKS</a:t>
            </a:r>
            <a:endParaRPr lang="en-US" sz="1600" dirty="0"/>
          </a:p>
        </p:txBody>
      </p:sp>
      <p:sp>
        <p:nvSpPr>
          <p:cNvPr id="7" name="Text 5"/>
          <p:cNvSpPr/>
          <p:nvPr/>
        </p:nvSpPr>
        <p:spPr>
          <a:xfrm>
            <a:off x="8503920" y="2926080"/>
            <a:ext cx="3520440" cy="128016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Two control loops.</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One self-managing cluster.</a:t>
            </a:r>
            <a:endParaRPr lang="en-US" sz="2200" dirty="0"/>
          </a:p>
        </p:txBody>
      </p:sp>
      <p:sp>
        <p:nvSpPr>
          <p:cNvPr id="8" name="Text 6"/>
          <p:cNvSpPr/>
          <p:nvPr/>
        </p:nvSpPr>
        <p:spPr>
          <a:xfrm>
            <a:off x="8503920" y="4297680"/>
            <a:ext cx="3520440" cy="91440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Compute by Karpenter / NAP</a:t>
            </a: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Traffic by AGC</a:t>
            </a:r>
            <a:endParaRPr lang="en-US" sz="1400" dirty="0"/>
          </a:p>
        </p:txBody>
      </p:sp>
      <p:sp>
        <p:nvSpPr>
          <p:cNvPr id="9" name="Text 7"/>
          <p:cNvSpPr/>
          <p:nvPr/>
        </p:nvSpPr>
        <p:spPr>
          <a:xfrm>
            <a:off x="640080" y="6035040"/>
            <a:ext cx="7315200" cy="365760"/>
          </a:xfrm>
          <a:prstGeom prst="rect">
            <a:avLst/>
          </a:prstGeom>
          <a:noFill/>
          <a:ln/>
        </p:spPr>
        <p:txBody>
          <a:bodyPr wrap="square" rtlCol="0" anchor="ctr"/>
          <a:lstStyle/>
          <a:p>
            <a:pPr indent="0" marL="0">
              <a:buNone/>
            </a:pPr>
            <a:r>
              <a:rPr lang="en-US" sz="1200" dirty="0">
                <a:solidFill>
                  <a:srgbClr val="7A8A9E"/>
                </a:solidFill>
                <a:latin typeface="Calibri" pitchFamily="34" charset="0"/>
                <a:ea typeface="Calibri" pitchFamily="34" charset="-122"/>
                <a:cs typeface="Calibri" pitchFamily="34" charset="-120"/>
              </a:rPr>
              <a:t>Vyshnavi Namani · Microsoft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WHY WE ARE HERE</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Three pains every AKS team has felt</a:t>
            </a:r>
            <a:endParaRPr lang="en-US" sz="3000" dirty="0"/>
          </a:p>
        </p:txBody>
      </p:sp>
      <p:sp>
        <p:nvSpPr>
          <p:cNvPr id="5" name="Shape 3"/>
          <p:cNvSpPr/>
          <p:nvPr/>
        </p:nvSpPr>
        <p:spPr>
          <a:xfrm>
            <a:off x="457200" y="1371600"/>
            <a:ext cx="3636264" cy="4023360"/>
          </a:xfrm>
          <a:prstGeom prst="roundRect">
            <a:avLst>
              <a:gd name="adj" fmla="val 3018"/>
            </a:avLst>
          </a:prstGeom>
          <a:solidFill>
            <a:srgbClr val="FFFFFF"/>
          </a:solidFill>
          <a:ln w="12700">
            <a:solidFill>
              <a:srgbClr val="E1E6EE"/>
            </a:solidFill>
            <a:prstDash val="solid"/>
          </a:ln>
        </p:spPr>
      </p:sp>
      <p:sp>
        <p:nvSpPr>
          <p:cNvPr id="6" name="Shape 4"/>
          <p:cNvSpPr/>
          <p:nvPr/>
        </p:nvSpPr>
        <p:spPr>
          <a:xfrm>
            <a:off x="457200" y="1371600"/>
            <a:ext cx="3636264" cy="164592"/>
          </a:xfrm>
          <a:prstGeom prst="rect">
            <a:avLst/>
          </a:prstGeom>
          <a:solidFill>
            <a:srgbClr val="FF5A4A"/>
          </a:solidFill>
          <a:ln w="12700">
            <a:solidFill>
              <a:srgbClr val="333333"/>
            </a:solidFill>
            <a:prstDash val="solid"/>
          </a:ln>
        </p:spPr>
      </p:sp>
      <p:sp>
        <p:nvSpPr>
          <p:cNvPr id="7" name="Shape 5"/>
          <p:cNvSpPr/>
          <p:nvPr/>
        </p:nvSpPr>
        <p:spPr>
          <a:xfrm>
            <a:off x="822960" y="1874520"/>
            <a:ext cx="868680" cy="868680"/>
          </a:xfrm>
          <a:prstGeom prst="ellipse">
            <a:avLst/>
          </a:prstGeom>
          <a:solidFill>
            <a:srgbClr val="FF5A4A"/>
          </a:solidFill>
          <a:ln w="12700">
            <a:solidFill>
              <a:srgbClr val="333333"/>
            </a:solidFill>
            <a:prstDash val="solid"/>
          </a:ln>
        </p:spPr>
      </p:sp>
      <p:sp>
        <p:nvSpPr>
          <p:cNvPr id="8" name="Text 6"/>
          <p:cNvSpPr/>
          <p:nvPr/>
        </p:nvSpPr>
        <p:spPr>
          <a:xfrm>
            <a:off x="822960" y="1874520"/>
            <a:ext cx="868680" cy="86868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01</a:t>
            </a:r>
            <a:endParaRPr lang="en-US" sz="2200" dirty="0"/>
          </a:p>
        </p:txBody>
      </p:sp>
      <p:sp>
        <p:nvSpPr>
          <p:cNvPr id="9" name="Text 7"/>
          <p:cNvSpPr/>
          <p:nvPr/>
        </p:nvSpPr>
        <p:spPr>
          <a:xfrm>
            <a:off x="822960" y="2926080"/>
            <a:ext cx="2904744" cy="548640"/>
          </a:xfrm>
          <a:prstGeom prst="rect">
            <a:avLst/>
          </a:prstGeom>
          <a:noFill/>
          <a:ln/>
        </p:spPr>
        <p:txBody>
          <a:bodyPr wrap="square" rtlCol="0" anchor="ctr"/>
          <a:lstStyle/>
          <a:p>
            <a:pPr indent="0" marL="0">
              <a:buNone/>
            </a:pPr>
            <a:r>
              <a:rPr lang="en-US" sz="2000" b="1" dirty="0">
                <a:solidFill>
                  <a:srgbClr val="12233A"/>
                </a:solidFill>
                <a:latin typeface="Calibri" pitchFamily="34" charset="0"/>
                <a:ea typeface="Calibri" pitchFamily="34" charset="-122"/>
                <a:cs typeface="Calibri" pitchFamily="34" charset="-120"/>
              </a:rPr>
              <a:t>Unpredictable workloads</a:t>
            </a:r>
            <a:endParaRPr lang="en-US" sz="2000" dirty="0"/>
          </a:p>
        </p:txBody>
      </p:sp>
      <p:sp>
        <p:nvSpPr>
          <p:cNvPr id="10" name="Text 8"/>
          <p:cNvSpPr/>
          <p:nvPr/>
        </p:nvSpPr>
        <p:spPr>
          <a:xfrm>
            <a:off x="822960" y="3566160"/>
            <a:ext cx="2904744" cy="1554480"/>
          </a:xfrm>
          <a:prstGeom prst="rect">
            <a:avLst/>
          </a:prstGeom>
          <a:noFill/>
          <a:ln/>
        </p:spPr>
        <p:txBody>
          <a:bodyPr wrap="square" rtlCol="0" anchor="ctr"/>
          <a:lstStyle/>
          <a:p>
            <a:pPr indent="0" marL="0">
              <a:spcAft>
                <a:spcPts val="400"/>
              </a:spcAft>
              <a:buNone/>
            </a:pPr>
            <a:r>
              <a:rPr lang="en-US" sz="1400" dirty="0">
                <a:solidFill>
                  <a:srgbClr val="12233A"/>
                </a:solidFill>
                <a:latin typeface="Calibri" pitchFamily="34" charset="0"/>
                <a:ea typeface="Calibri" pitchFamily="34" charset="-122"/>
                <a:cs typeface="Calibri" pitchFamily="34" charset="-120"/>
              </a:rPr>
              <a:t>Traffic spikes. Bursty jobs. AI inference. You can't pre-buy the right machines because you don't know which machines you'll need.</a:t>
            </a:r>
            <a:endParaRPr lang="en-US" sz="1400" dirty="0"/>
          </a:p>
        </p:txBody>
      </p:sp>
      <p:sp>
        <p:nvSpPr>
          <p:cNvPr id="11" name="Shape 9"/>
          <p:cNvSpPr/>
          <p:nvPr/>
        </p:nvSpPr>
        <p:spPr>
          <a:xfrm>
            <a:off x="4276344" y="1371600"/>
            <a:ext cx="3636264" cy="4023360"/>
          </a:xfrm>
          <a:prstGeom prst="roundRect">
            <a:avLst>
              <a:gd name="adj" fmla="val 3018"/>
            </a:avLst>
          </a:prstGeom>
          <a:solidFill>
            <a:srgbClr val="FFFFFF"/>
          </a:solidFill>
          <a:ln w="12700">
            <a:solidFill>
              <a:srgbClr val="E1E6EE"/>
            </a:solidFill>
            <a:prstDash val="solid"/>
          </a:ln>
        </p:spPr>
      </p:sp>
      <p:sp>
        <p:nvSpPr>
          <p:cNvPr id="12" name="Shape 10"/>
          <p:cNvSpPr/>
          <p:nvPr/>
        </p:nvSpPr>
        <p:spPr>
          <a:xfrm>
            <a:off x="4276344" y="1371600"/>
            <a:ext cx="3636264" cy="164592"/>
          </a:xfrm>
          <a:prstGeom prst="rect">
            <a:avLst/>
          </a:prstGeom>
          <a:solidFill>
            <a:srgbClr val="E8893D"/>
          </a:solidFill>
          <a:ln w="12700">
            <a:solidFill>
              <a:srgbClr val="333333"/>
            </a:solidFill>
            <a:prstDash val="solid"/>
          </a:ln>
        </p:spPr>
      </p:sp>
      <p:sp>
        <p:nvSpPr>
          <p:cNvPr id="13" name="Shape 11"/>
          <p:cNvSpPr/>
          <p:nvPr/>
        </p:nvSpPr>
        <p:spPr>
          <a:xfrm>
            <a:off x="4642104" y="1874520"/>
            <a:ext cx="868680" cy="868680"/>
          </a:xfrm>
          <a:prstGeom prst="ellipse">
            <a:avLst/>
          </a:prstGeom>
          <a:solidFill>
            <a:srgbClr val="E8893D"/>
          </a:solidFill>
          <a:ln w="12700">
            <a:solidFill>
              <a:srgbClr val="333333"/>
            </a:solidFill>
            <a:prstDash val="solid"/>
          </a:ln>
        </p:spPr>
      </p:sp>
      <p:sp>
        <p:nvSpPr>
          <p:cNvPr id="14" name="Text 12"/>
          <p:cNvSpPr/>
          <p:nvPr/>
        </p:nvSpPr>
        <p:spPr>
          <a:xfrm>
            <a:off x="4642104" y="1874520"/>
            <a:ext cx="868680" cy="86868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02</a:t>
            </a:r>
            <a:endParaRPr lang="en-US" sz="2200" dirty="0"/>
          </a:p>
        </p:txBody>
      </p:sp>
      <p:sp>
        <p:nvSpPr>
          <p:cNvPr id="15" name="Text 13"/>
          <p:cNvSpPr/>
          <p:nvPr/>
        </p:nvSpPr>
        <p:spPr>
          <a:xfrm>
            <a:off x="4642104" y="2926080"/>
            <a:ext cx="2904744" cy="548640"/>
          </a:xfrm>
          <a:prstGeom prst="rect">
            <a:avLst/>
          </a:prstGeom>
          <a:noFill/>
          <a:ln/>
        </p:spPr>
        <p:txBody>
          <a:bodyPr wrap="square" rtlCol="0" anchor="ctr"/>
          <a:lstStyle/>
          <a:p>
            <a:pPr indent="0" marL="0">
              <a:buNone/>
            </a:pPr>
            <a:r>
              <a:rPr lang="en-US" sz="2000" b="1" dirty="0">
                <a:solidFill>
                  <a:srgbClr val="12233A"/>
                </a:solidFill>
                <a:latin typeface="Calibri" pitchFamily="34" charset="0"/>
                <a:ea typeface="Calibri" pitchFamily="34" charset="-122"/>
                <a:cs typeface="Calibri" pitchFamily="34" charset="-120"/>
              </a:rPr>
              <a:t>Varying resource needs</a:t>
            </a:r>
            <a:endParaRPr lang="en-US" sz="2000" dirty="0"/>
          </a:p>
        </p:txBody>
      </p:sp>
      <p:sp>
        <p:nvSpPr>
          <p:cNvPr id="16" name="Text 14"/>
          <p:cNvSpPr/>
          <p:nvPr/>
        </p:nvSpPr>
        <p:spPr>
          <a:xfrm>
            <a:off x="4642104" y="3566160"/>
            <a:ext cx="2904744" cy="1554480"/>
          </a:xfrm>
          <a:prstGeom prst="rect">
            <a:avLst/>
          </a:prstGeom>
          <a:noFill/>
          <a:ln/>
        </p:spPr>
        <p:txBody>
          <a:bodyPr wrap="square" rtlCol="0" anchor="ctr"/>
          <a:lstStyle/>
          <a:p>
            <a:pPr indent="0" marL="0">
              <a:spcAft>
                <a:spcPts val="400"/>
              </a:spcAft>
              <a:buNone/>
            </a:pPr>
            <a:r>
              <a:rPr lang="en-US" sz="1400" dirty="0">
                <a:solidFill>
                  <a:srgbClr val="12233A"/>
                </a:solidFill>
                <a:latin typeface="Calibri" pitchFamily="34" charset="0"/>
                <a:ea typeface="Calibri" pitchFamily="34" charset="-122"/>
                <a:cs typeface="Calibri" pitchFamily="34" charset="-120"/>
              </a:rPr>
              <a:t>One service wants CPU. The next wants 10 Gi of memory. The third wants a GPU. Each used to mean a brand-new node pool.</a:t>
            </a:r>
            <a:endParaRPr lang="en-US" sz="1400" dirty="0"/>
          </a:p>
        </p:txBody>
      </p:sp>
      <p:sp>
        <p:nvSpPr>
          <p:cNvPr id="17" name="Shape 15"/>
          <p:cNvSpPr/>
          <p:nvPr/>
        </p:nvSpPr>
        <p:spPr>
          <a:xfrm>
            <a:off x="8095488" y="1371600"/>
            <a:ext cx="3636264" cy="4023360"/>
          </a:xfrm>
          <a:prstGeom prst="roundRect">
            <a:avLst>
              <a:gd name="adj" fmla="val 3018"/>
            </a:avLst>
          </a:prstGeom>
          <a:solidFill>
            <a:srgbClr val="FFFFFF"/>
          </a:solidFill>
          <a:ln w="12700">
            <a:solidFill>
              <a:srgbClr val="E1E6EE"/>
            </a:solidFill>
            <a:prstDash val="solid"/>
          </a:ln>
        </p:spPr>
      </p:sp>
      <p:sp>
        <p:nvSpPr>
          <p:cNvPr id="18" name="Shape 16"/>
          <p:cNvSpPr/>
          <p:nvPr/>
        </p:nvSpPr>
        <p:spPr>
          <a:xfrm>
            <a:off x="8095488" y="1371600"/>
            <a:ext cx="3636264" cy="164592"/>
          </a:xfrm>
          <a:prstGeom prst="rect">
            <a:avLst/>
          </a:prstGeom>
          <a:solidFill>
            <a:srgbClr val="065A82"/>
          </a:solidFill>
          <a:ln w="12700">
            <a:solidFill>
              <a:srgbClr val="333333"/>
            </a:solidFill>
            <a:prstDash val="solid"/>
          </a:ln>
        </p:spPr>
      </p:sp>
      <p:sp>
        <p:nvSpPr>
          <p:cNvPr id="19" name="Shape 17"/>
          <p:cNvSpPr/>
          <p:nvPr/>
        </p:nvSpPr>
        <p:spPr>
          <a:xfrm>
            <a:off x="8461248" y="1874520"/>
            <a:ext cx="868680" cy="868680"/>
          </a:xfrm>
          <a:prstGeom prst="ellipse">
            <a:avLst/>
          </a:prstGeom>
          <a:solidFill>
            <a:srgbClr val="065A82"/>
          </a:solidFill>
          <a:ln w="12700">
            <a:solidFill>
              <a:srgbClr val="333333"/>
            </a:solidFill>
            <a:prstDash val="solid"/>
          </a:ln>
        </p:spPr>
      </p:sp>
      <p:sp>
        <p:nvSpPr>
          <p:cNvPr id="20" name="Text 18"/>
          <p:cNvSpPr/>
          <p:nvPr/>
        </p:nvSpPr>
        <p:spPr>
          <a:xfrm>
            <a:off x="8461248" y="1874520"/>
            <a:ext cx="868680" cy="86868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03</a:t>
            </a:r>
            <a:endParaRPr lang="en-US" sz="2200" dirty="0"/>
          </a:p>
        </p:txBody>
      </p:sp>
      <p:sp>
        <p:nvSpPr>
          <p:cNvPr id="21" name="Text 19"/>
          <p:cNvSpPr/>
          <p:nvPr/>
        </p:nvSpPr>
        <p:spPr>
          <a:xfrm>
            <a:off x="8461248" y="2926080"/>
            <a:ext cx="2904744" cy="548640"/>
          </a:xfrm>
          <a:prstGeom prst="rect">
            <a:avLst/>
          </a:prstGeom>
          <a:noFill/>
          <a:ln/>
        </p:spPr>
        <p:txBody>
          <a:bodyPr wrap="square" rtlCol="0" anchor="ctr"/>
          <a:lstStyle/>
          <a:p>
            <a:pPr indent="0" marL="0">
              <a:buNone/>
            </a:pPr>
            <a:r>
              <a:rPr lang="en-US" sz="2000" b="1" dirty="0">
                <a:solidFill>
                  <a:srgbClr val="12233A"/>
                </a:solidFill>
                <a:latin typeface="Calibri" pitchFamily="34" charset="0"/>
                <a:ea typeface="Calibri" pitchFamily="34" charset="-122"/>
                <a:cs typeface="Calibri" pitchFamily="34" charset="-120"/>
              </a:rPr>
              <a:t>Node sprawl &amp; idle cost</a:t>
            </a:r>
            <a:endParaRPr lang="en-US" sz="2000" dirty="0"/>
          </a:p>
        </p:txBody>
      </p:sp>
      <p:sp>
        <p:nvSpPr>
          <p:cNvPr id="22" name="Text 20"/>
          <p:cNvSpPr/>
          <p:nvPr/>
        </p:nvSpPr>
        <p:spPr>
          <a:xfrm>
            <a:off x="8461248" y="3566160"/>
            <a:ext cx="2904744" cy="1554480"/>
          </a:xfrm>
          <a:prstGeom prst="rect">
            <a:avLst/>
          </a:prstGeom>
          <a:noFill/>
          <a:ln/>
        </p:spPr>
        <p:txBody>
          <a:bodyPr wrap="square" rtlCol="0" anchor="ctr"/>
          <a:lstStyle/>
          <a:p>
            <a:pPr indent="0" marL="0">
              <a:spcAft>
                <a:spcPts val="400"/>
              </a:spcAft>
              <a:buNone/>
            </a:pPr>
            <a:r>
              <a:rPr lang="en-US" sz="1400" dirty="0">
                <a:solidFill>
                  <a:srgbClr val="12233A"/>
                </a:solidFill>
                <a:latin typeface="Calibri" pitchFamily="34" charset="0"/>
                <a:ea typeface="Calibri" pitchFamily="34" charset="-122"/>
                <a:cs typeface="Calibri" pitchFamily="34" charset="-120"/>
              </a:rPr>
              <a:t>"Temporary" node pools that never go away. Half-empty nodes that bill all night. The Monday-morning finance ticket.</a:t>
            </a:r>
            <a:endParaRPr lang="en-US" sz="1400" dirty="0"/>
          </a:p>
        </p:txBody>
      </p:sp>
      <p:sp>
        <p:nvSpPr>
          <p:cNvPr id="23" name="Text 21"/>
          <p:cNvSpPr/>
          <p:nvPr/>
        </p:nvSpPr>
        <p:spPr>
          <a:xfrm>
            <a:off x="457200" y="5669280"/>
            <a:ext cx="11247120" cy="457200"/>
          </a:xfrm>
          <a:prstGeom prst="rect">
            <a:avLst/>
          </a:prstGeom>
          <a:noFill/>
          <a:ln/>
        </p:spPr>
        <p:txBody>
          <a:bodyPr wrap="square" rtlCol="0" anchor="ctr"/>
          <a:lstStyle/>
          <a:p>
            <a:pPr algn="ctr" indent="0" marL="0">
              <a:buNone/>
            </a:pPr>
            <a:r>
              <a:rPr lang="en-US" sz="1800" i="1" dirty="0">
                <a:solidFill>
                  <a:srgbClr val="065A82"/>
                </a:solidFill>
                <a:latin typeface="Calibri" pitchFamily="34" charset="0"/>
                <a:ea typeface="Calibri" pitchFamily="34" charset="-122"/>
                <a:cs typeface="Calibri" pitchFamily="34" charset="-120"/>
              </a:rPr>
              <a:t>NAP exists to take all three off your plate.</a:t>
            </a:r>
            <a:endParaRPr lang="en-US" sz="1800" dirty="0"/>
          </a:p>
        </p:txBody>
      </p:sp>
      <p:sp>
        <p:nvSpPr>
          <p:cNvPr id="24" name="Text 22"/>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25" name="Text 23"/>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2 / 14</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THE CUSTOMER SCENARIO</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Meet Contoso Retail — flash sale tonight at 8pm</a:t>
            </a:r>
            <a:endParaRPr lang="en-US" sz="3000" dirty="0"/>
          </a:p>
        </p:txBody>
      </p:sp>
      <p:sp>
        <p:nvSpPr>
          <p:cNvPr id="5" name="Text 3"/>
          <p:cNvSpPr/>
          <p:nvPr/>
        </p:nvSpPr>
        <p:spPr>
          <a:xfrm>
            <a:off x="457200" y="1371600"/>
            <a:ext cx="6400800" cy="457200"/>
          </a:xfrm>
          <a:prstGeom prst="rect">
            <a:avLst/>
          </a:prstGeom>
          <a:noFill/>
          <a:ln/>
        </p:spPr>
        <p:txBody>
          <a:bodyPr wrap="square" rtlCol="0" anchor="ctr"/>
          <a:lstStyle/>
          <a:p>
            <a:pPr indent="0" marL="0">
              <a:buNone/>
            </a:pPr>
            <a:r>
              <a:rPr lang="en-US" sz="2200" b="1" dirty="0">
                <a:solidFill>
                  <a:srgbClr val="12233A"/>
                </a:solidFill>
                <a:latin typeface="Calibri" pitchFamily="34" charset="0"/>
                <a:ea typeface="Calibri" pitchFamily="34" charset="-122"/>
                <a:cs typeface="Calibri" pitchFamily="34" charset="-120"/>
              </a:rPr>
              <a:t>shop.contoso.com runs on AKS.</a:t>
            </a:r>
            <a:endParaRPr lang="en-US" sz="2200" dirty="0"/>
          </a:p>
        </p:txBody>
      </p:sp>
      <p:sp>
        <p:nvSpPr>
          <p:cNvPr id="6" name="Text 4"/>
          <p:cNvSpPr/>
          <p:nvPr/>
        </p:nvSpPr>
        <p:spPr>
          <a:xfrm>
            <a:off x="457200" y="1920240"/>
            <a:ext cx="6400800" cy="1828800"/>
          </a:xfrm>
          <a:prstGeom prst="rect">
            <a:avLst/>
          </a:prstGeom>
          <a:noFill/>
          <a:ln/>
        </p:spPr>
        <p:txBody>
          <a:bodyPr wrap="square" rtlCol="0" anchor="ctr"/>
          <a:lstStyle/>
          <a:p>
            <a:pPr indent="0" marL="0">
              <a:spcAft>
                <a:spcPts val="800"/>
              </a:spcAft>
              <a:buNone/>
            </a:pPr>
            <a:r>
              <a:rPr lang="en-US" sz="1600" dirty="0">
                <a:solidFill>
                  <a:srgbClr val="12233A"/>
                </a:solidFill>
                <a:latin typeface="Calibri" pitchFamily="34" charset="0"/>
                <a:ea typeface="Calibri" pitchFamily="34" charset="-122"/>
                <a:cs typeface="Calibri" pitchFamily="34" charset="-120"/>
              </a:rPr>
              <a:t>Marketing just sent a flash-sale email to 2 million subscribers. Traffic will spike 5× in minutes, then drain a few hours later.</a:t>
            </a:r>
            <a:endParaRPr lang="en-US" sz="1600" dirty="0"/>
          </a:p>
          <a:p>
            <a:pPr indent="0" marL="0">
              <a:spcAft>
                <a:spcPts val="800"/>
              </a:spcAft>
              <a:buNone/>
            </a:pPr>
            <a:endParaRPr lang="en-US" sz="1600" dirty="0"/>
          </a:p>
          <a:p>
            <a:pPr indent="0" marL="0">
              <a:spcAft>
                <a:spcPts val="800"/>
              </a:spcAft>
              <a:buNone/>
            </a:pPr>
            <a:r>
              <a:rPr lang="en-US" sz="1600" dirty="0">
                <a:solidFill>
                  <a:srgbClr val="12233A"/>
                </a:solidFill>
                <a:latin typeface="Calibri" pitchFamily="34" charset="0"/>
                <a:ea typeface="Calibri" pitchFamily="34" charset="-122"/>
                <a:cs typeface="Calibri" pitchFamily="34" charset="-120"/>
              </a:rPr>
              <a:t>The on-call engineer just sat down to dinner.</a:t>
            </a:r>
            <a:endParaRPr lang="en-US" sz="1600" dirty="0"/>
          </a:p>
        </p:txBody>
      </p:sp>
      <p:sp>
        <p:nvSpPr>
          <p:cNvPr id="7" name="Shape 5"/>
          <p:cNvSpPr/>
          <p:nvPr/>
        </p:nvSpPr>
        <p:spPr>
          <a:xfrm>
            <a:off x="7223760" y="1280160"/>
            <a:ext cx="4526280" cy="4937760"/>
          </a:xfrm>
          <a:prstGeom prst="roundRect">
            <a:avLst>
              <a:gd name="adj" fmla="val 2424"/>
            </a:avLst>
          </a:prstGeom>
          <a:solidFill>
            <a:srgbClr val="0B1B2E"/>
          </a:solidFill>
          <a:ln w="12700">
            <a:solidFill>
              <a:srgbClr val="333333"/>
            </a:solidFill>
            <a:prstDash val="solid"/>
          </a:ln>
        </p:spPr>
      </p:sp>
      <p:sp>
        <p:nvSpPr>
          <p:cNvPr id="8" name="Text 6"/>
          <p:cNvSpPr/>
          <p:nvPr/>
        </p:nvSpPr>
        <p:spPr>
          <a:xfrm>
            <a:off x="7498080" y="1417320"/>
            <a:ext cx="3977640" cy="457200"/>
          </a:xfrm>
          <a:prstGeom prst="rect">
            <a:avLst/>
          </a:prstGeom>
          <a:noFill/>
          <a:ln/>
        </p:spPr>
        <p:txBody>
          <a:bodyPr wrap="square" rtlCol="0" anchor="ctr"/>
          <a:lstStyle/>
          <a:p>
            <a:pPr indent="0" marL="0">
              <a:buNone/>
            </a:pPr>
            <a:r>
              <a:rPr lang="en-US" sz="1600" b="1" dirty="0">
                <a:solidFill>
                  <a:srgbClr val="5EA0EF"/>
                </a:solidFill>
                <a:latin typeface="Calibri" pitchFamily="34" charset="0"/>
                <a:ea typeface="Calibri" pitchFamily="34" charset="-122"/>
                <a:cs typeface="Calibri" pitchFamily="34" charset="-120"/>
              </a:rPr>
              <a:t>Three concerns, three NAP scenarios</a:t>
            </a:r>
            <a:endParaRPr lang="en-US" sz="1600" dirty="0"/>
          </a:p>
        </p:txBody>
      </p:sp>
      <p:sp>
        <p:nvSpPr>
          <p:cNvPr id="9" name="Text 7"/>
          <p:cNvSpPr/>
          <p:nvPr/>
        </p:nvSpPr>
        <p:spPr>
          <a:xfrm>
            <a:off x="7498080" y="1965960"/>
            <a:ext cx="3977640" cy="32004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Sizing</a:t>
            </a:r>
            <a:endParaRPr lang="en-US" sz="1600" dirty="0"/>
          </a:p>
        </p:txBody>
      </p:sp>
      <p:sp>
        <p:nvSpPr>
          <p:cNvPr id="10" name="Text 8"/>
          <p:cNvSpPr/>
          <p:nvPr/>
        </p:nvSpPr>
        <p:spPr>
          <a:xfrm>
            <a:off x="7498080" y="2286000"/>
            <a:ext cx="3977640" cy="6400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New recommender needs ~10 Gi/pod. Today's pool is CPU-tuned.</a:t>
            </a:r>
            <a:endParaRPr lang="en-US" sz="1200" dirty="0"/>
          </a:p>
        </p:txBody>
      </p:sp>
      <p:sp>
        <p:nvSpPr>
          <p:cNvPr id="11" name="Text 9"/>
          <p:cNvSpPr/>
          <p:nvPr/>
        </p:nvSpPr>
        <p:spPr>
          <a:xfrm>
            <a:off x="7498080" y="2926080"/>
            <a:ext cx="3977640" cy="274320"/>
          </a:xfrm>
          <a:prstGeom prst="rect">
            <a:avLst/>
          </a:prstGeom>
          <a:noFill/>
          <a:ln/>
        </p:spPr>
        <p:txBody>
          <a:bodyPr wrap="square" rtlCol="0" anchor="ctr"/>
          <a:lstStyle/>
          <a:p>
            <a:pPr indent="0" marL="0">
              <a:buNone/>
            </a:pPr>
            <a:r>
              <a:rPr lang="en-US" sz="1100" i="1" dirty="0">
                <a:solidFill>
                  <a:srgbClr val="5EA0EF"/>
                </a:solidFill>
                <a:latin typeface="Calibri" pitchFamily="34" charset="0"/>
                <a:ea typeface="Calibri" pitchFamily="34" charset="-122"/>
                <a:cs typeface="Calibri" pitchFamily="34" charset="-120"/>
              </a:rPr>
              <a:t>→ Scenario 2</a:t>
            </a:r>
            <a:endParaRPr lang="en-US" sz="1100" dirty="0"/>
          </a:p>
        </p:txBody>
      </p:sp>
      <p:sp>
        <p:nvSpPr>
          <p:cNvPr id="12" name="Text 10"/>
          <p:cNvSpPr/>
          <p:nvPr/>
        </p:nvSpPr>
        <p:spPr>
          <a:xfrm>
            <a:off x="7498080" y="3291840"/>
            <a:ext cx="3977640" cy="32004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Speed</a:t>
            </a:r>
            <a:endParaRPr lang="en-US" sz="1600" dirty="0"/>
          </a:p>
        </p:txBody>
      </p:sp>
      <p:sp>
        <p:nvSpPr>
          <p:cNvPr id="13" name="Text 11"/>
          <p:cNvSpPr/>
          <p:nvPr/>
        </p:nvSpPr>
        <p:spPr>
          <a:xfrm>
            <a:off x="7498080" y="3611880"/>
            <a:ext cx="3977640" cy="6400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When the spike hits, new pods must be Running in &lt; 1 min — and warm pods must not get hammered.</a:t>
            </a:r>
            <a:endParaRPr lang="en-US" sz="1200" dirty="0"/>
          </a:p>
        </p:txBody>
      </p:sp>
      <p:sp>
        <p:nvSpPr>
          <p:cNvPr id="14" name="Text 12"/>
          <p:cNvSpPr/>
          <p:nvPr/>
        </p:nvSpPr>
        <p:spPr>
          <a:xfrm>
            <a:off x="7498080" y="4251960"/>
            <a:ext cx="3977640" cy="274320"/>
          </a:xfrm>
          <a:prstGeom prst="rect">
            <a:avLst/>
          </a:prstGeom>
          <a:noFill/>
          <a:ln/>
        </p:spPr>
        <p:txBody>
          <a:bodyPr wrap="square" rtlCol="0" anchor="ctr"/>
          <a:lstStyle/>
          <a:p>
            <a:pPr indent="0" marL="0">
              <a:buNone/>
            </a:pPr>
            <a:r>
              <a:rPr lang="en-US" sz="1100" i="1" dirty="0">
                <a:solidFill>
                  <a:srgbClr val="5EA0EF"/>
                </a:solidFill>
                <a:latin typeface="Calibri" pitchFamily="34" charset="0"/>
                <a:ea typeface="Calibri" pitchFamily="34" charset="-122"/>
                <a:cs typeface="Calibri" pitchFamily="34" charset="-120"/>
              </a:rPr>
              <a:t>→ Scenario 1</a:t>
            </a:r>
            <a:endParaRPr lang="en-US" sz="1100" dirty="0"/>
          </a:p>
        </p:txBody>
      </p:sp>
      <p:sp>
        <p:nvSpPr>
          <p:cNvPr id="15" name="Text 13"/>
          <p:cNvSpPr/>
          <p:nvPr/>
        </p:nvSpPr>
        <p:spPr>
          <a:xfrm>
            <a:off x="7498080" y="4617720"/>
            <a:ext cx="3977640" cy="32004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Cost</a:t>
            </a:r>
            <a:endParaRPr lang="en-US" sz="1600" dirty="0"/>
          </a:p>
        </p:txBody>
      </p:sp>
      <p:sp>
        <p:nvSpPr>
          <p:cNvPr id="16" name="Text 14"/>
          <p:cNvSpPr/>
          <p:nvPr/>
        </p:nvSpPr>
        <p:spPr>
          <a:xfrm>
            <a:off x="7498080" y="4937760"/>
            <a:ext cx="3977640" cy="6400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After the sale, the extra capacity sits on the bill all night.</a:t>
            </a:r>
            <a:endParaRPr lang="en-US" sz="1200" dirty="0"/>
          </a:p>
        </p:txBody>
      </p:sp>
      <p:sp>
        <p:nvSpPr>
          <p:cNvPr id="17" name="Text 15"/>
          <p:cNvSpPr/>
          <p:nvPr/>
        </p:nvSpPr>
        <p:spPr>
          <a:xfrm>
            <a:off x="7498080" y="5577840"/>
            <a:ext cx="3977640" cy="274320"/>
          </a:xfrm>
          <a:prstGeom prst="rect">
            <a:avLst/>
          </a:prstGeom>
          <a:noFill/>
          <a:ln/>
        </p:spPr>
        <p:txBody>
          <a:bodyPr wrap="square" rtlCol="0" anchor="ctr"/>
          <a:lstStyle/>
          <a:p>
            <a:pPr indent="0" marL="0">
              <a:buNone/>
            </a:pPr>
            <a:r>
              <a:rPr lang="en-US" sz="1100" i="1" dirty="0">
                <a:solidFill>
                  <a:srgbClr val="5EA0EF"/>
                </a:solidFill>
                <a:latin typeface="Calibri" pitchFamily="34" charset="0"/>
                <a:ea typeface="Calibri" pitchFamily="34" charset="-122"/>
                <a:cs typeface="Calibri" pitchFamily="34" charset="-120"/>
              </a:rPr>
              <a:t>→ Scenario 3</a:t>
            </a:r>
            <a:endParaRPr lang="en-US" sz="1100" dirty="0"/>
          </a:p>
        </p:txBody>
      </p:sp>
      <p:sp>
        <p:nvSpPr>
          <p:cNvPr id="18" name="Text 16"/>
          <p:cNvSpPr/>
          <p:nvPr/>
        </p:nvSpPr>
        <p:spPr>
          <a:xfrm>
            <a:off x="457200" y="5623560"/>
            <a:ext cx="6675120" cy="457200"/>
          </a:xfrm>
          <a:prstGeom prst="rect">
            <a:avLst/>
          </a:prstGeom>
          <a:noFill/>
          <a:ln/>
        </p:spPr>
        <p:txBody>
          <a:bodyPr wrap="square" rtlCol="0" anchor="ctr"/>
          <a:lstStyle/>
          <a:p>
            <a:pPr indent="0" marL="0">
              <a:buNone/>
            </a:pPr>
            <a:r>
              <a:rPr lang="en-US" sz="1600" i="1" dirty="0">
                <a:solidFill>
                  <a:srgbClr val="065A82"/>
                </a:solidFill>
                <a:latin typeface="Calibri" pitchFamily="34" charset="0"/>
                <a:ea typeface="Calibri" pitchFamily="34" charset="-122"/>
                <a:cs typeface="Calibri" pitchFamily="34" charset="-120"/>
              </a:rPr>
              <a:t>"Tonight, nobody at Contoso has to think about any of this."</a:t>
            </a:r>
            <a:endParaRPr lang="en-US" sz="1600" dirty="0"/>
          </a:p>
        </p:txBody>
      </p:sp>
      <p:sp>
        <p:nvSpPr>
          <p:cNvPr id="19" name="Text 17"/>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20" name="Text 18"/>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3 / 14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CONCEPT #1</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What is NAP? (Node Auto Provisioning)</a:t>
            </a:r>
            <a:endParaRPr lang="en-US" sz="3000" dirty="0"/>
          </a:p>
        </p:txBody>
      </p:sp>
      <p:sp>
        <p:nvSpPr>
          <p:cNvPr id="5" name="Shape 3"/>
          <p:cNvSpPr/>
          <p:nvPr/>
        </p:nvSpPr>
        <p:spPr>
          <a:xfrm>
            <a:off x="457200" y="1280160"/>
            <a:ext cx="5577840" cy="4937760"/>
          </a:xfrm>
          <a:prstGeom prst="roundRect">
            <a:avLst>
              <a:gd name="adj" fmla="val 2222"/>
            </a:avLst>
          </a:prstGeom>
          <a:solidFill>
            <a:srgbClr val="FFFFFF"/>
          </a:solidFill>
          <a:ln w="12700">
            <a:solidFill>
              <a:srgbClr val="E1E6EE"/>
            </a:solidFill>
            <a:prstDash val="solid"/>
          </a:ln>
        </p:spPr>
      </p:sp>
      <p:sp>
        <p:nvSpPr>
          <p:cNvPr id="6" name="Text 4"/>
          <p:cNvSpPr/>
          <p:nvPr/>
        </p:nvSpPr>
        <p:spPr>
          <a:xfrm>
            <a:off x="731520" y="1417320"/>
            <a:ext cx="5029200" cy="365760"/>
          </a:xfrm>
          <a:prstGeom prst="rect">
            <a:avLst/>
          </a:prstGeom>
          <a:noFill/>
          <a:ln/>
        </p:spPr>
        <p:txBody>
          <a:bodyPr wrap="square" rtlCol="0" anchor="ctr"/>
          <a:lstStyle/>
          <a:p>
            <a:pPr indent="0" marL="0">
              <a:buNone/>
            </a:pPr>
            <a:r>
              <a:rPr lang="en-US" sz="1200" b="1" spc="300" kern="0" dirty="0">
                <a:solidFill>
                  <a:srgbClr val="7A8A9E"/>
                </a:solidFill>
                <a:latin typeface="Calibri" pitchFamily="34" charset="0"/>
                <a:ea typeface="Calibri" pitchFamily="34" charset="-122"/>
                <a:cs typeface="Calibri" pitchFamily="34" charset="-120"/>
              </a:rPr>
              <a:t>In one sentence</a:t>
            </a:r>
            <a:endParaRPr lang="en-US" sz="1200" dirty="0"/>
          </a:p>
        </p:txBody>
      </p:sp>
      <p:sp>
        <p:nvSpPr>
          <p:cNvPr id="7" name="Text 5"/>
          <p:cNvSpPr/>
          <p:nvPr/>
        </p:nvSpPr>
        <p:spPr>
          <a:xfrm>
            <a:off x="731520" y="1783080"/>
            <a:ext cx="5029200" cy="1188720"/>
          </a:xfrm>
          <a:prstGeom prst="rect">
            <a:avLst/>
          </a:prstGeom>
          <a:noFill/>
          <a:ln/>
        </p:spPr>
        <p:txBody>
          <a:bodyPr wrap="square" rtlCol="0" anchor="ctr"/>
          <a:lstStyle/>
          <a:p>
            <a:pPr indent="0" marL="0">
              <a:buNone/>
            </a:pPr>
            <a:r>
              <a:rPr lang="en-US" sz="1800" dirty="0">
                <a:solidFill>
                  <a:srgbClr val="12233A"/>
                </a:solidFill>
                <a:latin typeface="Calibri" pitchFamily="34" charset="0"/>
                <a:ea typeface="Calibri" pitchFamily="34" charset="-122"/>
                <a:cs typeface="Calibri" pitchFamily="34" charset="-120"/>
              </a:rPr>
              <a:t>NAP lets AKS create the right node automatically when a pod needs it — so you don't pre-plan node pools or worry about VM sizes.</a:t>
            </a:r>
            <a:endParaRPr lang="en-US" sz="1800" dirty="0"/>
          </a:p>
        </p:txBody>
      </p:sp>
      <p:sp>
        <p:nvSpPr>
          <p:cNvPr id="8" name="Text 6"/>
          <p:cNvSpPr/>
          <p:nvPr/>
        </p:nvSpPr>
        <p:spPr>
          <a:xfrm>
            <a:off x="731520" y="3017520"/>
            <a:ext cx="5029200" cy="457200"/>
          </a:xfrm>
          <a:prstGeom prst="rect">
            <a:avLst/>
          </a:prstGeom>
          <a:noFill/>
          <a:ln/>
        </p:spPr>
        <p:txBody>
          <a:bodyPr wrap="square" rtlCol="0" anchor="ctr"/>
          <a:lstStyle/>
          <a:p>
            <a:pPr indent="0" marL="0">
              <a:buNone/>
            </a:pPr>
            <a:r>
              <a:rPr lang="en-US" sz="1300" i="1" dirty="0">
                <a:solidFill>
                  <a:srgbClr val="065A82"/>
                </a:solidFill>
                <a:latin typeface="Calibri" pitchFamily="34" charset="0"/>
                <a:ea typeface="Calibri" pitchFamily="34" charset="-122"/>
                <a:cs typeface="Calibri" pitchFamily="34" charset="-120"/>
              </a:rPr>
              <a:t>Built on open-source Karpenter, run as a managed AKS feature.</a:t>
            </a:r>
            <a:endParaRPr lang="en-US" sz="1300" dirty="0"/>
          </a:p>
        </p:txBody>
      </p:sp>
      <p:sp>
        <p:nvSpPr>
          <p:cNvPr id="9" name="Text 7"/>
          <p:cNvSpPr/>
          <p:nvPr/>
        </p:nvSpPr>
        <p:spPr>
          <a:xfrm>
            <a:off x="731520" y="3657600"/>
            <a:ext cx="5029200" cy="365760"/>
          </a:xfrm>
          <a:prstGeom prst="rect">
            <a:avLst/>
          </a:prstGeom>
          <a:noFill/>
          <a:ln/>
        </p:spPr>
        <p:txBody>
          <a:bodyPr wrap="square" rtlCol="0" anchor="ctr"/>
          <a:lstStyle/>
          <a:p>
            <a:pPr indent="0" marL="0">
              <a:buNone/>
            </a:pPr>
            <a:r>
              <a:rPr lang="en-US" sz="1200" b="1" spc="300" kern="0" dirty="0">
                <a:solidFill>
                  <a:srgbClr val="7A8A9E"/>
                </a:solidFill>
                <a:latin typeface="Calibri" pitchFamily="34" charset="0"/>
                <a:ea typeface="Calibri" pitchFamily="34" charset="-122"/>
                <a:cs typeface="Calibri" pitchFamily="34" charset="-120"/>
              </a:rPr>
              <a:t>What it removes from your day</a:t>
            </a:r>
            <a:endParaRPr lang="en-US" sz="1200" dirty="0"/>
          </a:p>
        </p:txBody>
      </p:sp>
      <p:sp>
        <p:nvSpPr>
          <p:cNvPr id="10" name="Shape 8"/>
          <p:cNvSpPr/>
          <p:nvPr/>
        </p:nvSpPr>
        <p:spPr>
          <a:xfrm>
            <a:off x="731520" y="4114800"/>
            <a:ext cx="164592" cy="164592"/>
          </a:xfrm>
          <a:prstGeom prst="ellipse">
            <a:avLst/>
          </a:prstGeom>
          <a:solidFill>
            <a:srgbClr val="5BD68A"/>
          </a:solidFill>
          <a:ln w="12700">
            <a:solidFill>
              <a:srgbClr val="333333"/>
            </a:solidFill>
            <a:prstDash val="solid"/>
          </a:ln>
        </p:spPr>
      </p:sp>
      <p:sp>
        <p:nvSpPr>
          <p:cNvPr id="11" name="Text 9"/>
          <p:cNvSpPr/>
          <p:nvPr/>
        </p:nvSpPr>
        <p:spPr>
          <a:xfrm>
            <a:off x="1005840" y="4023360"/>
            <a:ext cx="4754880" cy="365760"/>
          </a:xfrm>
          <a:prstGeom prst="rect">
            <a:avLst/>
          </a:prstGeom>
          <a:noFill/>
          <a:ln/>
        </p:spPr>
        <p:txBody>
          <a:bodyPr wrap="square" rtlCol="0" anchor="ctr"/>
          <a:lstStyle/>
          <a:p>
            <a:pPr indent="0" marL="0">
              <a:buNone/>
            </a:pPr>
            <a:r>
              <a:rPr lang="en-US" sz="1400" dirty="0">
                <a:solidFill>
                  <a:srgbClr val="12233A"/>
                </a:solidFill>
                <a:latin typeface="Calibri" pitchFamily="34" charset="0"/>
                <a:ea typeface="Calibri" pitchFamily="34" charset="-122"/>
                <a:cs typeface="Calibri" pitchFamily="34" charset="-120"/>
              </a:rPr>
              <a:t>Guessing VM SKUs</a:t>
            </a:r>
            <a:endParaRPr lang="en-US" sz="1400" dirty="0"/>
          </a:p>
        </p:txBody>
      </p:sp>
      <p:sp>
        <p:nvSpPr>
          <p:cNvPr id="12" name="Shape 10"/>
          <p:cNvSpPr/>
          <p:nvPr/>
        </p:nvSpPr>
        <p:spPr>
          <a:xfrm>
            <a:off x="731520" y="4526280"/>
            <a:ext cx="164592" cy="164592"/>
          </a:xfrm>
          <a:prstGeom prst="ellipse">
            <a:avLst/>
          </a:prstGeom>
          <a:solidFill>
            <a:srgbClr val="5BD68A"/>
          </a:solidFill>
          <a:ln w="12700">
            <a:solidFill>
              <a:srgbClr val="333333"/>
            </a:solidFill>
            <a:prstDash val="solid"/>
          </a:ln>
        </p:spPr>
      </p:sp>
      <p:sp>
        <p:nvSpPr>
          <p:cNvPr id="13" name="Text 11"/>
          <p:cNvSpPr/>
          <p:nvPr/>
        </p:nvSpPr>
        <p:spPr>
          <a:xfrm>
            <a:off x="1005840" y="4434840"/>
            <a:ext cx="4754880" cy="365760"/>
          </a:xfrm>
          <a:prstGeom prst="rect">
            <a:avLst/>
          </a:prstGeom>
          <a:noFill/>
          <a:ln/>
        </p:spPr>
        <p:txBody>
          <a:bodyPr wrap="square" rtlCol="0" anchor="ctr"/>
          <a:lstStyle/>
          <a:p>
            <a:pPr indent="0" marL="0">
              <a:buNone/>
            </a:pPr>
            <a:r>
              <a:rPr lang="en-US" sz="1400" dirty="0">
                <a:solidFill>
                  <a:srgbClr val="12233A"/>
                </a:solidFill>
                <a:latin typeface="Calibri" pitchFamily="34" charset="0"/>
                <a:ea typeface="Calibri" pitchFamily="34" charset="-122"/>
                <a:cs typeface="Calibri" pitchFamily="34" charset="-120"/>
              </a:rPr>
              <a:t>Pre-creating per-workload node pools</a:t>
            </a:r>
            <a:endParaRPr lang="en-US" sz="1400" dirty="0"/>
          </a:p>
        </p:txBody>
      </p:sp>
      <p:sp>
        <p:nvSpPr>
          <p:cNvPr id="14" name="Shape 12"/>
          <p:cNvSpPr/>
          <p:nvPr/>
        </p:nvSpPr>
        <p:spPr>
          <a:xfrm>
            <a:off x="731520" y="4937760"/>
            <a:ext cx="164592" cy="164592"/>
          </a:xfrm>
          <a:prstGeom prst="ellipse">
            <a:avLst/>
          </a:prstGeom>
          <a:solidFill>
            <a:srgbClr val="5BD68A"/>
          </a:solidFill>
          <a:ln w="12700">
            <a:solidFill>
              <a:srgbClr val="333333"/>
            </a:solidFill>
            <a:prstDash val="solid"/>
          </a:ln>
        </p:spPr>
      </p:sp>
      <p:sp>
        <p:nvSpPr>
          <p:cNvPr id="15" name="Text 13"/>
          <p:cNvSpPr/>
          <p:nvPr/>
        </p:nvSpPr>
        <p:spPr>
          <a:xfrm>
            <a:off x="1005840" y="4846320"/>
            <a:ext cx="4754880" cy="365760"/>
          </a:xfrm>
          <a:prstGeom prst="rect">
            <a:avLst/>
          </a:prstGeom>
          <a:noFill/>
          <a:ln/>
        </p:spPr>
        <p:txBody>
          <a:bodyPr wrap="square" rtlCol="0" anchor="ctr"/>
          <a:lstStyle/>
          <a:p>
            <a:pPr indent="0" marL="0">
              <a:buNone/>
            </a:pPr>
            <a:r>
              <a:rPr lang="en-US" sz="1400" dirty="0">
                <a:solidFill>
                  <a:srgbClr val="12233A"/>
                </a:solidFill>
                <a:latin typeface="Calibri" pitchFamily="34" charset="0"/>
                <a:ea typeface="Calibri" pitchFamily="34" charset="-122"/>
                <a:cs typeface="Calibri" pitchFamily="34" charset="-120"/>
              </a:rPr>
              <a:t>Min/max replica math</a:t>
            </a:r>
            <a:endParaRPr lang="en-US" sz="1400" dirty="0"/>
          </a:p>
        </p:txBody>
      </p:sp>
      <p:sp>
        <p:nvSpPr>
          <p:cNvPr id="16" name="Shape 14"/>
          <p:cNvSpPr/>
          <p:nvPr/>
        </p:nvSpPr>
        <p:spPr>
          <a:xfrm>
            <a:off x="731520" y="5349240"/>
            <a:ext cx="164592" cy="164592"/>
          </a:xfrm>
          <a:prstGeom prst="ellipse">
            <a:avLst/>
          </a:prstGeom>
          <a:solidFill>
            <a:srgbClr val="5BD68A"/>
          </a:solidFill>
          <a:ln w="12700">
            <a:solidFill>
              <a:srgbClr val="333333"/>
            </a:solidFill>
            <a:prstDash val="solid"/>
          </a:ln>
        </p:spPr>
      </p:sp>
      <p:sp>
        <p:nvSpPr>
          <p:cNvPr id="17" name="Text 15"/>
          <p:cNvSpPr/>
          <p:nvPr/>
        </p:nvSpPr>
        <p:spPr>
          <a:xfrm>
            <a:off x="1005840" y="5257800"/>
            <a:ext cx="4754880" cy="365760"/>
          </a:xfrm>
          <a:prstGeom prst="rect">
            <a:avLst/>
          </a:prstGeom>
          <a:noFill/>
          <a:ln/>
        </p:spPr>
        <p:txBody>
          <a:bodyPr wrap="square" rtlCol="0" anchor="ctr"/>
          <a:lstStyle/>
          <a:p>
            <a:pPr indent="0" marL="0">
              <a:buNone/>
            </a:pPr>
            <a:r>
              <a:rPr lang="en-US" sz="1400" dirty="0">
                <a:solidFill>
                  <a:srgbClr val="12233A"/>
                </a:solidFill>
                <a:latin typeface="Calibri" pitchFamily="34" charset="0"/>
                <a:ea typeface="Calibri" pitchFamily="34" charset="-122"/>
                <a:cs typeface="Calibri" pitchFamily="34" charset="-120"/>
              </a:rPr>
              <a:t>Manually deleting idle nodes</a:t>
            </a:r>
            <a:endParaRPr lang="en-US" sz="1400" dirty="0"/>
          </a:p>
        </p:txBody>
      </p:sp>
      <p:sp>
        <p:nvSpPr>
          <p:cNvPr id="18" name="Shape 16"/>
          <p:cNvSpPr/>
          <p:nvPr/>
        </p:nvSpPr>
        <p:spPr>
          <a:xfrm>
            <a:off x="6263640" y="1280160"/>
            <a:ext cx="5486400" cy="4937760"/>
          </a:xfrm>
          <a:prstGeom prst="roundRect">
            <a:avLst>
              <a:gd name="adj" fmla="val 2222"/>
            </a:avLst>
          </a:prstGeom>
          <a:solidFill>
            <a:srgbClr val="0B1B2E"/>
          </a:solidFill>
          <a:ln w="12700">
            <a:solidFill>
              <a:srgbClr val="333333"/>
            </a:solidFill>
            <a:prstDash val="solid"/>
          </a:ln>
        </p:spPr>
      </p:sp>
      <p:sp>
        <p:nvSpPr>
          <p:cNvPr id="19" name="Text 17"/>
          <p:cNvSpPr/>
          <p:nvPr/>
        </p:nvSpPr>
        <p:spPr>
          <a:xfrm>
            <a:off x="6537960" y="1417320"/>
            <a:ext cx="4937760" cy="365760"/>
          </a:xfrm>
          <a:prstGeom prst="rect">
            <a:avLst/>
          </a:prstGeom>
          <a:noFill/>
          <a:ln/>
        </p:spPr>
        <p:txBody>
          <a:bodyPr wrap="square" rtlCol="0" anchor="ctr"/>
          <a:lstStyle/>
          <a:p>
            <a:pPr indent="0" marL="0">
              <a:buNone/>
            </a:pPr>
            <a:r>
              <a:rPr lang="en-US" sz="1200" b="1" spc="300" kern="0" dirty="0">
                <a:solidFill>
                  <a:srgbClr val="5EA0EF"/>
                </a:solidFill>
                <a:latin typeface="Calibri" pitchFamily="34" charset="0"/>
                <a:ea typeface="Calibri" pitchFamily="34" charset="-122"/>
                <a:cs typeface="Calibri" pitchFamily="34" charset="-120"/>
              </a:rPr>
              <a:t>How it works (4 steps)</a:t>
            </a:r>
            <a:endParaRPr lang="en-US" sz="1200" dirty="0"/>
          </a:p>
        </p:txBody>
      </p:sp>
      <p:sp>
        <p:nvSpPr>
          <p:cNvPr id="20" name="Shape 18"/>
          <p:cNvSpPr/>
          <p:nvPr/>
        </p:nvSpPr>
        <p:spPr>
          <a:xfrm>
            <a:off x="6537960" y="1828800"/>
            <a:ext cx="502920" cy="502920"/>
          </a:xfrm>
          <a:prstGeom prst="ellipse">
            <a:avLst/>
          </a:prstGeom>
          <a:solidFill>
            <a:srgbClr val="5EA0EF"/>
          </a:solidFill>
          <a:ln w="12700">
            <a:solidFill>
              <a:srgbClr val="333333"/>
            </a:solidFill>
            <a:prstDash val="solid"/>
          </a:ln>
        </p:spPr>
      </p:sp>
      <p:sp>
        <p:nvSpPr>
          <p:cNvPr id="21" name="Text 19"/>
          <p:cNvSpPr/>
          <p:nvPr/>
        </p:nvSpPr>
        <p:spPr>
          <a:xfrm>
            <a:off x="6537960" y="1828800"/>
            <a:ext cx="502920" cy="502920"/>
          </a:xfrm>
          <a:prstGeom prst="rect">
            <a:avLst/>
          </a:prstGeom>
          <a:noFill/>
          <a:ln/>
        </p:spPr>
        <p:txBody>
          <a:bodyPr wrap="square" rtlCol="0" anchor="ctr"/>
          <a:lstStyle/>
          <a:p>
            <a:pPr algn="ctr" indent="0" marL="0">
              <a:buNone/>
            </a:pPr>
            <a:r>
              <a:rPr lang="en-US" sz="1800" b="1" dirty="0">
                <a:solidFill>
                  <a:srgbClr val="0B1B2E"/>
                </a:solidFill>
                <a:latin typeface="Calibri" pitchFamily="34" charset="0"/>
                <a:ea typeface="Calibri" pitchFamily="34" charset="-122"/>
                <a:cs typeface="Calibri" pitchFamily="34" charset="-120"/>
              </a:rPr>
              <a:t>1</a:t>
            </a:r>
            <a:endParaRPr lang="en-US" sz="1800" dirty="0"/>
          </a:p>
        </p:txBody>
      </p:sp>
      <p:sp>
        <p:nvSpPr>
          <p:cNvPr id="22" name="Text 20"/>
          <p:cNvSpPr/>
          <p:nvPr/>
        </p:nvSpPr>
        <p:spPr>
          <a:xfrm>
            <a:off x="7178040" y="1783080"/>
            <a:ext cx="4297680" cy="36576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Watch</a:t>
            </a:r>
            <a:endParaRPr lang="en-US" sz="1600" dirty="0"/>
          </a:p>
        </p:txBody>
      </p:sp>
      <p:sp>
        <p:nvSpPr>
          <p:cNvPr id="23" name="Text 21"/>
          <p:cNvSpPr/>
          <p:nvPr/>
        </p:nvSpPr>
        <p:spPr>
          <a:xfrm>
            <a:off x="7178040" y="2103120"/>
            <a:ext cx="4297680" cy="6400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Pods that can't fit anywhere → marked Pending.</a:t>
            </a:r>
            <a:endParaRPr lang="en-US" sz="1200" dirty="0"/>
          </a:p>
        </p:txBody>
      </p:sp>
      <p:sp>
        <p:nvSpPr>
          <p:cNvPr id="24" name="Shape 22"/>
          <p:cNvSpPr/>
          <p:nvPr/>
        </p:nvSpPr>
        <p:spPr>
          <a:xfrm>
            <a:off x="6537960" y="2880360"/>
            <a:ext cx="502920" cy="502920"/>
          </a:xfrm>
          <a:prstGeom prst="ellipse">
            <a:avLst/>
          </a:prstGeom>
          <a:solidFill>
            <a:srgbClr val="5EA0EF"/>
          </a:solidFill>
          <a:ln w="12700">
            <a:solidFill>
              <a:srgbClr val="333333"/>
            </a:solidFill>
            <a:prstDash val="solid"/>
          </a:ln>
        </p:spPr>
      </p:sp>
      <p:sp>
        <p:nvSpPr>
          <p:cNvPr id="25" name="Text 23"/>
          <p:cNvSpPr/>
          <p:nvPr/>
        </p:nvSpPr>
        <p:spPr>
          <a:xfrm>
            <a:off x="6537960" y="2880360"/>
            <a:ext cx="502920" cy="502920"/>
          </a:xfrm>
          <a:prstGeom prst="rect">
            <a:avLst/>
          </a:prstGeom>
          <a:noFill/>
          <a:ln/>
        </p:spPr>
        <p:txBody>
          <a:bodyPr wrap="square" rtlCol="0" anchor="ctr"/>
          <a:lstStyle/>
          <a:p>
            <a:pPr algn="ctr" indent="0" marL="0">
              <a:buNone/>
            </a:pPr>
            <a:r>
              <a:rPr lang="en-US" sz="1800" b="1" dirty="0">
                <a:solidFill>
                  <a:srgbClr val="0B1B2E"/>
                </a:solidFill>
                <a:latin typeface="Calibri" pitchFamily="34" charset="0"/>
                <a:ea typeface="Calibri" pitchFamily="34" charset="-122"/>
                <a:cs typeface="Calibri" pitchFamily="34" charset="-120"/>
              </a:rPr>
              <a:t>2</a:t>
            </a:r>
            <a:endParaRPr lang="en-US" sz="1800" dirty="0"/>
          </a:p>
        </p:txBody>
      </p:sp>
      <p:sp>
        <p:nvSpPr>
          <p:cNvPr id="26" name="Text 24"/>
          <p:cNvSpPr/>
          <p:nvPr/>
        </p:nvSpPr>
        <p:spPr>
          <a:xfrm>
            <a:off x="7178040" y="2834640"/>
            <a:ext cx="4297680" cy="36576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Decide</a:t>
            </a:r>
            <a:endParaRPr lang="en-US" sz="1600" dirty="0"/>
          </a:p>
        </p:txBody>
      </p:sp>
      <p:sp>
        <p:nvSpPr>
          <p:cNvPr id="27" name="Text 25"/>
          <p:cNvSpPr/>
          <p:nvPr/>
        </p:nvSpPr>
        <p:spPr>
          <a:xfrm>
            <a:off x="7178040" y="3154680"/>
            <a:ext cx="4297680" cy="6400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Read what each pod actually needs (CPU, mem, GPU).</a:t>
            </a:r>
            <a:endParaRPr lang="en-US" sz="1200" dirty="0"/>
          </a:p>
        </p:txBody>
      </p:sp>
      <p:sp>
        <p:nvSpPr>
          <p:cNvPr id="28" name="Shape 26"/>
          <p:cNvSpPr/>
          <p:nvPr/>
        </p:nvSpPr>
        <p:spPr>
          <a:xfrm>
            <a:off x="6537960" y="3931920"/>
            <a:ext cx="502920" cy="502920"/>
          </a:xfrm>
          <a:prstGeom prst="ellipse">
            <a:avLst/>
          </a:prstGeom>
          <a:solidFill>
            <a:srgbClr val="5EA0EF"/>
          </a:solidFill>
          <a:ln w="12700">
            <a:solidFill>
              <a:srgbClr val="333333"/>
            </a:solidFill>
            <a:prstDash val="solid"/>
          </a:ln>
        </p:spPr>
      </p:sp>
      <p:sp>
        <p:nvSpPr>
          <p:cNvPr id="29" name="Text 27"/>
          <p:cNvSpPr/>
          <p:nvPr/>
        </p:nvSpPr>
        <p:spPr>
          <a:xfrm>
            <a:off x="6537960" y="3931920"/>
            <a:ext cx="502920" cy="502920"/>
          </a:xfrm>
          <a:prstGeom prst="rect">
            <a:avLst/>
          </a:prstGeom>
          <a:noFill/>
          <a:ln/>
        </p:spPr>
        <p:txBody>
          <a:bodyPr wrap="square" rtlCol="0" anchor="ctr"/>
          <a:lstStyle/>
          <a:p>
            <a:pPr algn="ctr" indent="0" marL="0">
              <a:buNone/>
            </a:pPr>
            <a:r>
              <a:rPr lang="en-US" sz="1800" b="1" dirty="0">
                <a:solidFill>
                  <a:srgbClr val="0B1B2E"/>
                </a:solidFill>
                <a:latin typeface="Calibri" pitchFamily="34" charset="0"/>
                <a:ea typeface="Calibri" pitchFamily="34" charset="-122"/>
                <a:cs typeface="Calibri" pitchFamily="34" charset="-120"/>
              </a:rPr>
              <a:t>3</a:t>
            </a:r>
            <a:endParaRPr lang="en-US" sz="1800" dirty="0"/>
          </a:p>
        </p:txBody>
      </p:sp>
      <p:sp>
        <p:nvSpPr>
          <p:cNvPr id="30" name="Text 28"/>
          <p:cNvSpPr/>
          <p:nvPr/>
        </p:nvSpPr>
        <p:spPr>
          <a:xfrm>
            <a:off x="7178040" y="3886200"/>
            <a:ext cx="4297680" cy="36576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Provision</a:t>
            </a:r>
            <a:endParaRPr lang="en-US" sz="1600" dirty="0"/>
          </a:p>
        </p:txBody>
      </p:sp>
      <p:sp>
        <p:nvSpPr>
          <p:cNvPr id="31" name="Text 29"/>
          <p:cNvSpPr/>
          <p:nvPr/>
        </p:nvSpPr>
        <p:spPr>
          <a:xfrm>
            <a:off x="7178040" y="4206240"/>
            <a:ext cx="4297680" cy="6400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Spin up the cheapest VM in an allowed family that fits.</a:t>
            </a:r>
            <a:endParaRPr lang="en-US" sz="1200" dirty="0"/>
          </a:p>
        </p:txBody>
      </p:sp>
      <p:sp>
        <p:nvSpPr>
          <p:cNvPr id="32" name="Shape 30"/>
          <p:cNvSpPr/>
          <p:nvPr/>
        </p:nvSpPr>
        <p:spPr>
          <a:xfrm>
            <a:off x="6537960" y="4983480"/>
            <a:ext cx="502920" cy="502920"/>
          </a:xfrm>
          <a:prstGeom prst="ellipse">
            <a:avLst/>
          </a:prstGeom>
          <a:solidFill>
            <a:srgbClr val="5EA0EF"/>
          </a:solidFill>
          <a:ln w="12700">
            <a:solidFill>
              <a:srgbClr val="333333"/>
            </a:solidFill>
            <a:prstDash val="solid"/>
          </a:ln>
        </p:spPr>
      </p:sp>
      <p:sp>
        <p:nvSpPr>
          <p:cNvPr id="33" name="Text 31"/>
          <p:cNvSpPr/>
          <p:nvPr/>
        </p:nvSpPr>
        <p:spPr>
          <a:xfrm>
            <a:off x="6537960" y="4983480"/>
            <a:ext cx="502920" cy="502920"/>
          </a:xfrm>
          <a:prstGeom prst="rect">
            <a:avLst/>
          </a:prstGeom>
          <a:noFill/>
          <a:ln/>
        </p:spPr>
        <p:txBody>
          <a:bodyPr wrap="square" rtlCol="0" anchor="ctr"/>
          <a:lstStyle/>
          <a:p>
            <a:pPr algn="ctr" indent="0" marL="0">
              <a:buNone/>
            </a:pPr>
            <a:r>
              <a:rPr lang="en-US" sz="1800" b="1" dirty="0">
                <a:solidFill>
                  <a:srgbClr val="0B1B2E"/>
                </a:solidFill>
                <a:latin typeface="Calibri" pitchFamily="34" charset="0"/>
                <a:ea typeface="Calibri" pitchFamily="34" charset="-122"/>
                <a:cs typeface="Calibri" pitchFamily="34" charset="-120"/>
              </a:rPr>
              <a:t>4</a:t>
            </a:r>
            <a:endParaRPr lang="en-US" sz="1800" dirty="0"/>
          </a:p>
        </p:txBody>
      </p:sp>
      <p:sp>
        <p:nvSpPr>
          <p:cNvPr id="34" name="Text 32"/>
          <p:cNvSpPr/>
          <p:nvPr/>
        </p:nvSpPr>
        <p:spPr>
          <a:xfrm>
            <a:off x="7178040" y="4937760"/>
            <a:ext cx="4297680" cy="36576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Reclaim</a:t>
            </a:r>
            <a:endParaRPr lang="en-US" sz="1600" dirty="0"/>
          </a:p>
        </p:txBody>
      </p:sp>
      <p:sp>
        <p:nvSpPr>
          <p:cNvPr id="35" name="Text 33"/>
          <p:cNvSpPr/>
          <p:nvPr/>
        </p:nvSpPr>
        <p:spPr>
          <a:xfrm>
            <a:off x="7178040" y="5257800"/>
            <a:ext cx="4297680" cy="6400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When utilization drops, consolidate and delete idle nodes.</a:t>
            </a:r>
            <a:endParaRPr lang="en-US" sz="1200" dirty="0"/>
          </a:p>
        </p:txBody>
      </p:sp>
      <p:sp>
        <p:nvSpPr>
          <p:cNvPr id="36" name="Text 34"/>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37" name="Text 35"/>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4 / 14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WHY NAP IS MORE THAN AUTOSCALING</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Mixed autoscaling — one pool, many SKUs</a:t>
            </a:r>
            <a:endParaRPr lang="en-US" sz="3000" dirty="0"/>
          </a:p>
        </p:txBody>
      </p:sp>
      <p:sp>
        <p:nvSpPr>
          <p:cNvPr id="5" name="Shape 3"/>
          <p:cNvSpPr/>
          <p:nvPr/>
        </p:nvSpPr>
        <p:spPr>
          <a:xfrm>
            <a:off x="457200" y="1280160"/>
            <a:ext cx="5303520" cy="4937760"/>
          </a:xfrm>
          <a:prstGeom prst="roundRect">
            <a:avLst>
              <a:gd name="adj" fmla="val 2222"/>
            </a:avLst>
          </a:prstGeom>
          <a:solidFill>
            <a:srgbClr val="FFFFFF"/>
          </a:solidFill>
          <a:ln w="12700">
            <a:solidFill>
              <a:srgbClr val="E1E6EE"/>
            </a:solidFill>
            <a:prstDash val="solid"/>
          </a:ln>
        </p:spPr>
      </p:sp>
      <p:sp>
        <p:nvSpPr>
          <p:cNvPr id="6" name="Text 4"/>
          <p:cNvSpPr/>
          <p:nvPr/>
        </p:nvSpPr>
        <p:spPr>
          <a:xfrm>
            <a:off x="731520" y="1417320"/>
            <a:ext cx="4754880" cy="365760"/>
          </a:xfrm>
          <a:prstGeom prst="rect">
            <a:avLst/>
          </a:prstGeom>
          <a:noFill/>
          <a:ln/>
        </p:spPr>
        <p:txBody>
          <a:bodyPr wrap="square" rtlCol="0" anchor="ctr"/>
          <a:lstStyle/>
          <a:p>
            <a:pPr indent="0" marL="0">
              <a:buNone/>
            </a:pPr>
            <a:r>
              <a:rPr lang="en-US" sz="1200" b="1" spc="300" kern="0" dirty="0">
                <a:solidFill>
                  <a:srgbClr val="7A8A9E"/>
                </a:solidFill>
                <a:latin typeface="Calibri" pitchFamily="34" charset="0"/>
                <a:ea typeface="Calibri" pitchFamily="34" charset="-122"/>
                <a:cs typeface="Calibri" pitchFamily="34" charset="-120"/>
              </a:rPr>
              <a:t>What it means</a:t>
            </a:r>
            <a:endParaRPr lang="en-US" sz="1200" dirty="0"/>
          </a:p>
        </p:txBody>
      </p:sp>
      <p:sp>
        <p:nvSpPr>
          <p:cNvPr id="7" name="Text 5"/>
          <p:cNvSpPr/>
          <p:nvPr/>
        </p:nvSpPr>
        <p:spPr>
          <a:xfrm>
            <a:off x="731520" y="1783080"/>
            <a:ext cx="4754880" cy="1188720"/>
          </a:xfrm>
          <a:prstGeom prst="rect">
            <a:avLst/>
          </a:prstGeom>
          <a:noFill/>
          <a:ln/>
        </p:spPr>
        <p:txBody>
          <a:bodyPr wrap="square" rtlCol="0" anchor="ctr"/>
          <a:lstStyle/>
          <a:p>
            <a:pPr indent="0" marL="0">
              <a:buNone/>
            </a:pPr>
            <a:r>
              <a:rPr lang="en-US" sz="1700" dirty="0">
                <a:solidFill>
                  <a:srgbClr val="12233A"/>
                </a:solidFill>
                <a:latin typeface="Calibri" pitchFamily="34" charset="0"/>
                <a:ea typeface="Calibri" pitchFamily="34" charset="-122"/>
                <a:cs typeface="Calibri" pitchFamily="34" charset="-120"/>
              </a:rPr>
              <a:t>NAP can pull multiple VM SKUs into the same logical node pool, then pick the best fit per pod batch.</a:t>
            </a:r>
            <a:endParaRPr lang="en-US" sz="1700" dirty="0"/>
          </a:p>
        </p:txBody>
      </p:sp>
      <p:sp>
        <p:nvSpPr>
          <p:cNvPr id="8" name="Text 6"/>
          <p:cNvSpPr/>
          <p:nvPr/>
        </p:nvSpPr>
        <p:spPr>
          <a:xfrm>
            <a:off x="731520" y="3108960"/>
            <a:ext cx="4754880" cy="365760"/>
          </a:xfrm>
          <a:prstGeom prst="rect">
            <a:avLst/>
          </a:prstGeom>
          <a:noFill/>
          <a:ln/>
        </p:spPr>
        <p:txBody>
          <a:bodyPr wrap="square" rtlCol="0" anchor="ctr"/>
          <a:lstStyle/>
          <a:p>
            <a:pPr indent="0" marL="0">
              <a:buNone/>
            </a:pPr>
            <a:r>
              <a:rPr lang="en-US" sz="1200" b="1" spc="300" kern="0" dirty="0">
                <a:solidFill>
                  <a:srgbClr val="7A8A9E"/>
                </a:solidFill>
                <a:latin typeface="Calibri" pitchFamily="34" charset="0"/>
                <a:ea typeface="Calibri" pitchFamily="34" charset="-122"/>
                <a:cs typeface="Calibri" pitchFamily="34" charset="-120"/>
              </a:rPr>
              <a:t>Why it matters</a:t>
            </a:r>
            <a:endParaRPr lang="en-US" sz="1200" dirty="0"/>
          </a:p>
        </p:txBody>
      </p:sp>
      <p:sp>
        <p:nvSpPr>
          <p:cNvPr id="9" name="Shape 7"/>
          <p:cNvSpPr/>
          <p:nvPr/>
        </p:nvSpPr>
        <p:spPr>
          <a:xfrm>
            <a:off x="731520" y="3657600"/>
            <a:ext cx="182880" cy="182880"/>
          </a:xfrm>
          <a:prstGeom prst="ellipse">
            <a:avLst/>
          </a:prstGeom>
          <a:solidFill>
            <a:srgbClr val="5BD68A"/>
          </a:solidFill>
          <a:ln w="12700">
            <a:solidFill>
              <a:srgbClr val="333333"/>
            </a:solidFill>
            <a:prstDash val="solid"/>
          </a:ln>
        </p:spPr>
      </p:sp>
      <p:sp>
        <p:nvSpPr>
          <p:cNvPr id="10" name="Text 8"/>
          <p:cNvSpPr/>
          <p:nvPr/>
        </p:nvSpPr>
        <p:spPr>
          <a:xfrm>
            <a:off x="1051560" y="3566160"/>
            <a:ext cx="4572000" cy="411480"/>
          </a:xfrm>
          <a:prstGeom prst="rect">
            <a:avLst/>
          </a:prstGeom>
          <a:noFill/>
          <a:ln/>
        </p:spPr>
        <p:txBody>
          <a:bodyPr wrap="square" rtlCol="0" anchor="ctr"/>
          <a:lstStyle/>
          <a:p>
            <a:pPr indent="0" marL="0">
              <a:buNone/>
            </a:pPr>
            <a:r>
              <a:rPr lang="en-US" sz="1300" dirty="0">
                <a:solidFill>
                  <a:srgbClr val="12233A"/>
                </a:solidFill>
                <a:latin typeface="Calibri" pitchFamily="34" charset="0"/>
                <a:ea typeface="Calibri" pitchFamily="34" charset="-122"/>
                <a:cs typeface="Calibri" pitchFamily="34" charset="-120"/>
              </a:rPr>
              <a:t>Best-fit bin-packing across SKU sizes</a:t>
            </a:r>
            <a:endParaRPr lang="en-US" sz="1300" dirty="0"/>
          </a:p>
        </p:txBody>
      </p:sp>
      <p:sp>
        <p:nvSpPr>
          <p:cNvPr id="11" name="Shape 9"/>
          <p:cNvSpPr/>
          <p:nvPr/>
        </p:nvSpPr>
        <p:spPr>
          <a:xfrm>
            <a:off x="731520" y="4114800"/>
            <a:ext cx="182880" cy="182880"/>
          </a:xfrm>
          <a:prstGeom prst="ellipse">
            <a:avLst/>
          </a:prstGeom>
          <a:solidFill>
            <a:srgbClr val="5BD68A"/>
          </a:solidFill>
          <a:ln w="12700">
            <a:solidFill>
              <a:srgbClr val="333333"/>
            </a:solidFill>
            <a:prstDash val="solid"/>
          </a:ln>
        </p:spPr>
      </p:sp>
      <p:sp>
        <p:nvSpPr>
          <p:cNvPr id="12" name="Text 10"/>
          <p:cNvSpPr/>
          <p:nvPr/>
        </p:nvSpPr>
        <p:spPr>
          <a:xfrm>
            <a:off x="1051560" y="4023360"/>
            <a:ext cx="4572000" cy="411480"/>
          </a:xfrm>
          <a:prstGeom prst="rect">
            <a:avLst/>
          </a:prstGeom>
          <a:noFill/>
          <a:ln/>
        </p:spPr>
        <p:txBody>
          <a:bodyPr wrap="square" rtlCol="0" anchor="ctr"/>
          <a:lstStyle/>
          <a:p>
            <a:pPr indent="0" marL="0">
              <a:buNone/>
            </a:pPr>
            <a:r>
              <a:rPr lang="en-US" sz="1300" dirty="0">
                <a:solidFill>
                  <a:srgbClr val="12233A"/>
                </a:solidFill>
                <a:latin typeface="Calibri" pitchFamily="34" charset="0"/>
                <a:ea typeface="Calibri" pitchFamily="34" charset="-122"/>
                <a:cs typeface="Calibri" pitchFamily="34" charset="-120"/>
              </a:rPr>
              <a:t>Distributes across allocations — no over-provisioning</a:t>
            </a:r>
            <a:endParaRPr lang="en-US" sz="1300" dirty="0"/>
          </a:p>
        </p:txBody>
      </p:sp>
      <p:sp>
        <p:nvSpPr>
          <p:cNvPr id="13" name="Shape 11"/>
          <p:cNvSpPr/>
          <p:nvPr/>
        </p:nvSpPr>
        <p:spPr>
          <a:xfrm>
            <a:off x="731520" y="4572000"/>
            <a:ext cx="182880" cy="182880"/>
          </a:xfrm>
          <a:prstGeom prst="ellipse">
            <a:avLst/>
          </a:prstGeom>
          <a:solidFill>
            <a:srgbClr val="5BD68A"/>
          </a:solidFill>
          <a:ln w="12700">
            <a:solidFill>
              <a:srgbClr val="333333"/>
            </a:solidFill>
            <a:prstDash val="solid"/>
          </a:ln>
        </p:spPr>
      </p:sp>
      <p:sp>
        <p:nvSpPr>
          <p:cNvPr id="14" name="Text 12"/>
          <p:cNvSpPr/>
          <p:nvPr/>
        </p:nvSpPr>
        <p:spPr>
          <a:xfrm>
            <a:off x="1051560" y="4480560"/>
            <a:ext cx="4572000" cy="411480"/>
          </a:xfrm>
          <a:prstGeom prst="rect">
            <a:avLst/>
          </a:prstGeom>
          <a:noFill/>
          <a:ln/>
        </p:spPr>
        <p:txBody>
          <a:bodyPr wrap="square" rtlCol="0" anchor="ctr"/>
          <a:lstStyle/>
          <a:p>
            <a:pPr indent="0" marL="0">
              <a:buNone/>
            </a:pPr>
            <a:r>
              <a:rPr lang="en-US" sz="1300" dirty="0">
                <a:solidFill>
                  <a:srgbClr val="12233A"/>
                </a:solidFill>
                <a:latin typeface="Calibri" pitchFamily="34" charset="0"/>
                <a:ea typeface="Calibri" pitchFamily="34" charset="-122"/>
                <a:cs typeface="Calibri" pitchFamily="34" charset="-120"/>
              </a:rPr>
              <a:t>Replaces under-utilized nodes when a cheaper fit exists</a:t>
            </a:r>
            <a:endParaRPr lang="en-US" sz="1300" dirty="0"/>
          </a:p>
        </p:txBody>
      </p:sp>
      <p:sp>
        <p:nvSpPr>
          <p:cNvPr id="15" name="Shape 13"/>
          <p:cNvSpPr/>
          <p:nvPr/>
        </p:nvSpPr>
        <p:spPr>
          <a:xfrm>
            <a:off x="731520" y="5029200"/>
            <a:ext cx="182880" cy="182880"/>
          </a:xfrm>
          <a:prstGeom prst="ellipse">
            <a:avLst/>
          </a:prstGeom>
          <a:solidFill>
            <a:srgbClr val="5BD68A"/>
          </a:solidFill>
          <a:ln w="12700">
            <a:solidFill>
              <a:srgbClr val="333333"/>
            </a:solidFill>
            <a:prstDash val="solid"/>
          </a:ln>
        </p:spPr>
      </p:sp>
      <p:sp>
        <p:nvSpPr>
          <p:cNvPr id="16" name="Text 14"/>
          <p:cNvSpPr/>
          <p:nvPr/>
        </p:nvSpPr>
        <p:spPr>
          <a:xfrm>
            <a:off x="1051560" y="4937760"/>
            <a:ext cx="4572000" cy="411480"/>
          </a:xfrm>
          <a:prstGeom prst="rect">
            <a:avLst/>
          </a:prstGeom>
          <a:noFill/>
          <a:ln/>
        </p:spPr>
        <p:txBody>
          <a:bodyPr wrap="square" rtlCol="0" anchor="ctr"/>
          <a:lstStyle/>
          <a:p>
            <a:pPr indent="0" marL="0">
              <a:buNone/>
            </a:pPr>
            <a:r>
              <a:rPr lang="en-US" sz="1300" dirty="0">
                <a:solidFill>
                  <a:srgbClr val="12233A"/>
                </a:solidFill>
                <a:latin typeface="Calibri" pitchFamily="34" charset="0"/>
                <a:ea typeface="Calibri" pitchFamily="34" charset="-122"/>
                <a:cs typeface="Calibri" pitchFamily="34" charset="-120"/>
              </a:rPr>
              <a:t>Saves time and removes node-pool sprawl complexity</a:t>
            </a:r>
            <a:endParaRPr lang="en-US" sz="1300" dirty="0"/>
          </a:p>
        </p:txBody>
      </p:sp>
      <p:sp>
        <p:nvSpPr>
          <p:cNvPr id="17" name="Shape 15"/>
          <p:cNvSpPr/>
          <p:nvPr/>
        </p:nvSpPr>
        <p:spPr>
          <a:xfrm>
            <a:off x="5989320" y="1280160"/>
            <a:ext cx="5760720" cy="4937760"/>
          </a:xfrm>
          <a:prstGeom prst="roundRect">
            <a:avLst>
              <a:gd name="adj" fmla="val 2222"/>
            </a:avLst>
          </a:prstGeom>
          <a:solidFill>
            <a:srgbClr val="0B1B2E"/>
          </a:solidFill>
          <a:ln w="12700">
            <a:solidFill>
              <a:srgbClr val="333333"/>
            </a:solidFill>
            <a:prstDash val="solid"/>
          </a:ln>
        </p:spPr>
      </p:sp>
      <p:sp>
        <p:nvSpPr>
          <p:cNvPr id="18" name="Text 16"/>
          <p:cNvSpPr/>
          <p:nvPr/>
        </p:nvSpPr>
        <p:spPr>
          <a:xfrm>
            <a:off x="6263640" y="1417320"/>
            <a:ext cx="5212080" cy="365760"/>
          </a:xfrm>
          <a:prstGeom prst="rect">
            <a:avLst/>
          </a:prstGeom>
          <a:noFill/>
          <a:ln/>
        </p:spPr>
        <p:txBody>
          <a:bodyPr wrap="square" rtlCol="0" anchor="ctr"/>
          <a:lstStyle/>
          <a:p>
            <a:pPr indent="0" marL="0">
              <a:buNone/>
            </a:pPr>
            <a:r>
              <a:rPr lang="en-US" sz="1200" b="1" spc="300" kern="0" dirty="0">
                <a:solidFill>
                  <a:srgbClr val="5EA0EF"/>
                </a:solidFill>
                <a:latin typeface="Calibri" pitchFamily="34" charset="0"/>
                <a:ea typeface="Calibri" pitchFamily="34" charset="-122"/>
                <a:cs typeface="Calibri" pitchFamily="34" charset="-120"/>
              </a:rPr>
              <a:t>One NodePool, many SKUs</a:t>
            </a:r>
            <a:endParaRPr lang="en-US" sz="1200" dirty="0"/>
          </a:p>
        </p:txBody>
      </p:sp>
      <p:sp>
        <p:nvSpPr>
          <p:cNvPr id="19" name="Shape 17"/>
          <p:cNvSpPr/>
          <p:nvPr/>
        </p:nvSpPr>
        <p:spPr>
          <a:xfrm>
            <a:off x="6263640" y="1874520"/>
            <a:ext cx="5212080" cy="3017520"/>
          </a:xfrm>
          <a:prstGeom prst="roundRect">
            <a:avLst>
              <a:gd name="adj" fmla="val 3030"/>
            </a:avLst>
          </a:prstGeom>
          <a:solidFill>
            <a:srgbClr val="13314D"/>
          </a:solidFill>
          <a:ln w="12700">
            <a:solidFill>
              <a:srgbClr val="065A82"/>
            </a:solidFill>
            <a:prstDash val="dash"/>
          </a:ln>
        </p:spPr>
      </p:sp>
      <p:sp>
        <p:nvSpPr>
          <p:cNvPr id="20" name="Text 18"/>
          <p:cNvSpPr/>
          <p:nvPr/>
        </p:nvSpPr>
        <p:spPr>
          <a:xfrm>
            <a:off x="6400800" y="1965960"/>
            <a:ext cx="4937760" cy="365760"/>
          </a:xfrm>
          <a:prstGeom prst="rect">
            <a:avLst/>
          </a:prstGeom>
          <a:noFill/>
          <a:ln/>
        </p:spPr>
        <p:txBody>
          <a:bodyPr wrap="square" rtlCol="0" anchor="ctr"/>
          <a:lstStyle/>
          <a:p>
            <a:pPr indent="0" marL="0">
              <a:buNone/>
            </a:pPr>
            <a:r>
              <a:rPr lang="en-US" sz="1100" dirty="0">
                <a:solidFill>
                  <a:srgbClr val="5EA0EF"/>
                </a:solidFill>
                <a:latin typeface="Consolas" pitchFamily="34" charset="0"/>
                <a:ea typeface="Consolas" pitchFamily="34" charset="-122"/>
                <a:cs typeface="Consolas" pitchFamily="34" charset="-120"/>
              </a:rPr>
              <a:t>default  (sku-family ∈ [D, E])</a:t>
            </a:r>
            <a:endParaRPr lang="en-US" sz="1100" dirty="0"/>
          </a:p>
        </p:txBody>
      </p:sp>
      <p:sp>
        <p:nvSpPr>
          <p:cNvPr id="21" name="Shape 19"/>
          <p:cNvSpPr/>
          <p:nvPr/>
        </p:nvSpPr>
        <p:spPr>
          <a:xfrm>
            <a:off x="6400800" y="2423160"/>
            <a:ext cx="1417320" cy="594360"/>
          </a:xfrm>
          <a:prstGeom prst="roundRect">
            <a:avLst>
              <a:gd name="adj" fmla="val 12308"/>
            </a:avLst>
          </a:prstGeom>
          <a:solidFill>
            <a:srgbClr val="5EA0EF"/>
          </a:solidFill>
          <a:ln w="12700">
            <a:solidFill>
              <a:srgbClr val="333333"/>
            </a:solidFill>
            <a:prstDash val="solid"/>
          </a:ln>
        </p:spPr>
      </p:sp>
      <p:sp>
        <p:nvSpPr>
          <p:cNvPr id="22" name="Text 20"/>
          <p:cNvSpPr/>
          <p:nvPr/>
        </p:nvSpPr>
        <p:spPr>
          <a:xfrm>
            <a:off x="6400800" y="2423160"/>
            <a:ext cx="1417320" cy="594360"/>
          </a:xfrm>
          <a:prstGeom prst="rect">
            <a:avLst/>
          </a:prstGeom>
          <a:noFill/>
          <a:ln/>
        </p:spPr>
        <p:txBody>
          <a:bodyPr wrap="square"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D8ls_v5</a:t>
            </a:r>
            <a:endParaRPr lang="en-US" sz="1300" dirty="0"/>
          </a:p>
        </p:txBody>
      </p:sp>
      <p:sp>
        <p:nvSpPr>
          <p:cNvPr id="23" name="Shape 21"/>
          <p:cNvSpPr/>
          <p:nvPr/>
        </p:nvSpPr>
        <p:spPr>
          <a:xfrm>
            <a:off x="7955280" y="2423160"/>
            <a:ext cx="1783080" cy="594360"/>
          </a:xfrm>
          <a:prstGeom prst="roundRect">
            <a:avLst>
              <a:gd name="adj" fmla="val 12308"/>
            </a:avLst>
          </a:prstGeom>
          <a:solidFill>
            <a:srgbClr val="5EA0EF"/>
          </a:solidFill>
          <a:ln w="12700">
            <a:solidFill>
              <a:srgbClr val="333333"/>
            </a:solidFill>
            <a:prstDash val="solid"/>
          </a:ln>
        </p:spPr>
      </p:sp>
      <p:sp>
        <p:nvSpPr>
          <p:cNvPr id="24" name="Text 22"/>
          <p:cNvSpPr/>
          <p:nvPr/>
        </p:nvSpPr>
        <p:spPr>
          <a:xfrm>
            <a:off x="7955280" y="2423160"/>
            <a:ext cx="1783080" cy="594360"/>
          </a:xfrm>
          <a:prstGeom prst="rect">
            <a:avLst/>
          </a:prstGeom>
          <a:noFill/>
          <a:ln/>
        </p:spPr>
        <p:txBody>
          <a:bodyPr wrap="square"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D16s_v5</a:t>
            </a:r>
            <a:endParaRPr lang="en-US" sz="1300" dirty="0"/>
          </a:p>
        </p:txBody>
      </p:sp>
      <p:sp>
        <p:nvSpPr>
          <p:cNvPr id="25" name="Shape 23"/>
          <p:cNvSpPr/>
          <p:nvPr/>
        </p:nvSpPr>
        <p:spPr>
          <a:xfrm>
            <a:off x="6400800" y="3200400"/>
            <a:ext cx="1783080" cy="594360"/>
          </a:xfrm>
          <a:prstGeom prst="roundRect">
            <a:avLst>
              <a:gd name="adj" fmla="val 12308"/>
            </a:avLst>
          </a:prstGeom>
          <a:solidFill>
            <a:srgbClr val="E8893D"/>
          </a:solidFill>
          <a:ln w="12700">
            <a:solidFill>
              <a:srgbClr val="333333"/>
            </a:solidFill>
            <a:prstDash val="solid"/>
          </a:ln>
        </p:spPr>
      </p:sp>
      <p:sp>
        <p:nvSpPr>
          <p:cNvPr id="26" name="Text 24"/>
          <p:cNvSpPr/>
          <p:nvPr/>
        </p:nvSpPr>
        <p:spPr>
          <a:xfrm>
            <a:off x="6400800" y="3200400"/>
            <a:ext cx="1783080" cy="594360"/>
          </a:xfrm>
          <a:prstGeom prst="rect">
            <a:avLst/>
          </a:prstGeom>
          <a:noFill/>
          <a:ln/>
        </p:spPr>
        <p:txBody>
          <a:bodyPr wrap="square"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E16s_v5</a:t>
            </a:r>
            <a:endParaRPr lang="en-US" sz="1300" dirty="0"/>
          </a:p>
        </p:txBody>
      </p:sp>
      <p:sp>
        <p:nvSpPr>
          <p:cNvPr id="27" name="Shape 25"/>
          <p:cNvSpPr/>
          <p:nvPr/>
        </p:nvSpPr>
        <p:spPr>
          <a:xfrm>
            <a:off x="8321040" y="3200400"/>
            <a:ext cx="1143000" cy="594360"/>
          </a:xfrm>
          <a:prstGeom prst="roundRect">
            <a:avLst>
              <a:gd name="adj" fmla="val 12308"/>
            </a:avLst>
          </a:prstGeom>
          <a:solidFill>
            <a:srgbClr val="5EA0EF"/>
          </a:solidFill>
          <a:ln w="12700">
            <a:solidFill>
              <a:srgbClr val="333333"/>
            </a:solidFill>
            <a:prstDash val="solid"/>
          </a:ln>
        </p:spPr>
      </p:sp>
      <p:sp>
        <p:nvSpPr>
          <p:cNvPr id="28" name="Text 26"/>
          <p:cNvSpPr/>
          <p:nvPr/>
        </p:nvSpPr>
        <p:spPr>
          <a:xfrm>
            <a:off x="8321040" y="3200400"/>
            <a:ext cx="1143000" cy="594360"/>
          </a:xfrm>
          <a:prstGeom prst="rect">
            <a:avLst/>
          </a:prstGeom>
          <a:noFill/>
          <a:ln/>
        </p:spPr>
        <p:txBody>
          <a:bodyPr wrap="square"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D4s_v5</a:t>
            </a:r>
            <a:endParaRPr lang="en-US" sz="1300" dirty="0"/>
          </a:p>
        </p:txBody>
      </p:sp>
      <p:sp>
        <p:nvSpPr>
          <p:cNvPr id="29" name="Shape 27"/>
          <p:cNvSpPr/>
          <p:nvPr/>
        </p:nvSpPr>
        <p:spPr>
          <a:xfrm>
            <a:off x="6400800" y="3977640"/>
            <a:ext cx="2194560" cy="594360"/>
          </a:xfrm>
          <a:prstGeom prst="roundRect">
            <a:avLst>
              <a:gd name="adj" fmla="val 12308"/>
            </a:avLst>
          </a:prstGeom>
          <a:solidFill>
            <a:srgbClr val="E8893D"/>
          </a:solidFill>
          <a:ln w="12700">
            <a:solidFill>
              <a:srgbClr val="333333"/>
            </a:solidFill>
            <a:prstDash val="solid"/>
          </a:ln>
        </p:spPr>
      </p:sp>
      <p:sp>
        <p:nvSpPr>
          <p:cNvPr id="30" name="Text 28"/>
          <p:cNvSpPr/>
          <p:nvPr/>
        </p:nvSpPr>
        <p:spPr>
          <a:xfrm>
            <a:off x="6400800" y="3977640"/>
            <a:ext cx="2194560" cy="594360"/>
          </a:xfrm>
          <a:prstGeom prst="rect">
            <a:avLst/>
          </a:prstGeom>
          <a:noFill/>
          <a:ln/>
        </p:spPr>
        <p:txBody>
          <a:bodyPr wrap="square"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E32s_v5</a:t>
            </a:r>
            <a:endParaRPr lang="en-US" sz="1300" dirty="0"/>
          </a:p>
        </p:txBody>
      </p:sp>
      <p:sp>
        <p:nvSpPr>
          <p:cNvPr id="31" name="Text 29"/>
          <p:cNvSpPr/>
          <p:nvPr/>
        </p:nvSpPr>
        <p:spPr>
          <a:xfrm>
            <a:off x="6263640" y="4617720"/>
            <a:ext cx="5212080" cy="274320"/>
          </a:xfrm>
          <a:prstGeom prst="rect">
            <a:avLst/>
          </a:prstGeom>
          <a:noFill/>
          <a:ln/>
        </p:spPr>
        <p:txBody>
          <a:bodyPr wrap="square" rtlCol="0" anchor="ctr"/>
          <a:lstStyle/>
          <a:p>
            <a:pPr algn="ctr" indent="0" marL="0">
              <a:buNone/>
            </a:pPr>
            <a:r>
              <a:rPr lang="en-US" sz="1100" i="1" dirty="0">
                <a:solidFill>
                  <a:srgbClr val="CADCFC"/>
                </a:solidFill>
                <a:latin typeface="Calibri" pitchFamily="34" charset="0"/>
                <a:ea typeface="Calibri" pitchFamily="34" charset="-122"/>
                <a:cs typeface="Calibri" pitchFamily="34" charset="-120"/>
              </a:rPr>
              <a:t>General-purpose (D)   ·   Memory-optimized (E)</a:t>
            </a:r>
            <a:endParaRPr lang="en-US" sz="1100" dirty="0"/>
          </a:p>
        </p:txBody>
      </p:sp>
      <p:sp>
        <p:nvSpPr>
          <p:cNvPr id="32" name="Text 30"/>
          <p:cNvSpPr/>
          <p:nvPr/>
        </p:nvSpPr>
        <p:spPr>
          <a:xfrm>
            <a:off x="6263640" y="5120640"/>
            <a:ext cx="5212080" cy="914400"/>
          </a:xfrm>
          <a:prstGeom prst="rect">
            <a:avLst/>
          </a:prstGeom>
          <a:noFill/>
          <a:ln/>
        </p:spPr>
        <p:txBody>
          <a:bodyPr wrap="square"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Old way: a separate node pool per SKU.</a:t>
            </a:r>
            <a:endParaRPr lang="en-US" sz="1400" dirty="0"/>
          </a:p>
          <a:p>
            <a:pPr indent="0" marL="0">
              <a:buNone/>
            </a:pPr>
            <a:r>
              <a:rPr lang="en-US" sz="1400" i="1" dirty="0">
                <a:solidFill>
                  <a:srgbClr val="FFFFFF"/>
                </a:solidFill>
                <a:latin typeface="Calibri" pitchFamily="34" charset="0"/>
                <a:ea typeface="Calibri" pitchFamily="34" charset="-122"/>
                <a:cs typeface="Calibri" pitchFamily="34" charset="-120"/>
              </a:rPr>
              <a:t>NAP way: one menu, the cluster picks.</a:t>
            </a:r>
            <a:endParaRPr lang="en-US" sz="1400" dirty="0"/>
          </a:p>
        </p:txBody>
      </p:sp>
      <p:sp>
        <p:nvSpPr>
          <p:cNvPr id="33" name="Text 31"/>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34" name="Text 32"/>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5 / 14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HOW NAP COMPOSES WITH EVERYTHING ELSE</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Common scaling strategies you can layer</a:t>
            </a:r>
            <a:endParaRPr lang="en-US" sz="3000" dirty="0"/>
          </a:p>
        </p:txBody>
      </p:sp>
      <p:sp>
        <p:nvSpPr>
          <p:cNvPr id="5" name="Shape 3"/>
          <p:cNvSpPr/>
          <p:nvPr/>
        </p:nvSpPr>
        <p:spPr>
          <a:xfrm>
            <a:off x="457200" y="1325880"/>
            <a:ext cx="3636264" cy="4846320"/>
          </a:xfrm>
          <a:prstGeom prst="roundRect">
            <a:avLst>
              <a:gd name="adj" fmla="val 3018"/>
            </a:avLst>
          </a:prstGeom>
          <a:solidFill>
            <a:srgbClr val="FFFFFF"/>
          </a:solidFill>
          <a:ln w="12700">
            <a:solidFill>
              <a:srgbClr val="E1E6EE"/>
            </a:solidFill>
            <a:prstDash val="solid"/>
          </a:ln>
        </p:spPr>
      </p:sp>
      <p:sp>
        <p:nvSpPr>
          <p:cNvPr id="6" name="Shape 4"/>
          <p:cNvSpPr/>
          <p:nvPr/>
        </p:nvSpPr>
        <p:spPr>
          <a:xfrm>
            <a:off x="457200" y="1325880"/>
            <a:ext cx="3636264" cy="146304"/>
          </a:xfrm>
          <a:prstGeom prst="rect">
            <a:avLst/>
          </a:prstGeom>
          <a:solidFill>
            <a:srgbClr val="5EA0EF"/>
          </a:solidFill>
          <a:ln w="12700">
            <a:solidFill>
              <a:srgbClr val="333333"/>
            </a:solidFill>
            <a:prstDash val="solid"/>
          </a:ln>
        </p:spPr>
      </p:sp>
      <p:sp>
        <p:nvSpPr>
          <p:cNvPr id="7" name="Text 5"/>
          <p:cNvSpPr/>
          <p:nvPr/>
        </p:nvSpPr>
        <p:spPr>
          <a:xfrm>
            <a:off x="731520" y="1600200"/>
            <a:ext cx="3087624" cy="320040"/>
          </a:xfrm>
          <a:prstGeom prst="rect">
            <a:avLst/>
          </a:prstGeom>
          <a:noFill/>
          <a:ln/>
        </p:spPr>
        <p:txBody>
          <a:bodyPr wrap="square" rtlCol="0" anchor="ctr"/>
          <a:lstStyle/>
          <a:p>
            <a:pPr indent="0" marL="0">
              <a:buNone/>
            </a:pPr>
            <a:r>
              <a:rPr lang="en-US" sz="1100" b="1" spc="300" kern="0" dirty="0">
                <a:solidFill>
                  <a:srgbClr val="5EA0EF"/>
                </a:solidFill>
                <a:latin typeface="Calibri" pitchFamily="34" charset="0"/>
                <a:ea typeface="Calibri" pitchFamily="34" charset="-122"/>
                <a:cs typeface="Calibri" pitchFamily="34" charset="-120"/>
              </a:rPr>
              <a:t>PAIR WITH</a:t>
            </a:r>
            <a:endParaRPr lang="en-US" sz="1100" dirty="0"/>
          </a:p>
        </p:txBody>
      </p:sp>
      <p:sp>
        <p:nvSpPr>
          <p:cNvPr id="8" name="Text 6"/>
          <p:cNvSpPr/>
          <p:nvPr/>
        </p:nvSpPr>
        <p:spPr>
          <a:xfrm>
            <a:off x="731520" y="1920240"/>
            <a:ext cx="3087624" cy="502920"/>
          </a:xfrm>
          <a:prstGeom prst="rect">
            <a:avLst/>
          </a:prstGeom>
          <a:noFill/>
          <a:ln/>
        </p:spPr>
        <p:txBody>
          <a:bodyPr wrap="square" rtlCol="0" anchor="ctr"/>
          <a:lstStyle/>
          <a:p>
            <a:pPr indent="0" marL="0">
              <a:buNone/>
            </a:pPr>
            <a:r>
              <a:rPr lang="en-US" sz="2000" b="1" dirty="0">
                <a:solidFill>
                  <a:srgbClr val="12233A"/>
                </a:solidFill>
                <a:latin typeface="Calibri" pitchFamily="34" charset="0"/>
                <a:ea typeface="Calibri" pitchFamily="34" charset="-122"/>
                <a:cs typeface="Calibri" pitchFamily="34" charset="-120"/>
              </a:rPr>
              <a:t>HPA · VPA · KEDA</a:t>
            </a:r>
            <a:endParaRPr lang="en-US" sz="2000" dirty="0"/>
          </a:p>
        </p:txBody>
      </p:sp>
      <p:sp>
        <p:nvSpPr>
          <p:cNvPr id="9" name="Shape 7"/>
          <p:cNvSpPr/>
          <p:nvPr/>
        </p:nvSpPr>
        <p:spPr>
          <a:xfrm>
            <a:off x="731520" y="2651760"/>
            <a:ext cx="137160" cy="137160"/>
          </a:xfrm>
          <a:prstGeom prst="ellipse">
            <a:avLst/>
          </a:prstGeom>
          <a:solidFill>
            <a:srgbClr val="5EA0EF"/>
          </a:solidFill>
          <a:ln w="12700">
            <a:solidFill>
              <a:srgbClr val="333333"/>
            </a:solidFill>
            <a:prstDash val="solid"/>
          </a:ln>
        </p:spPr>
      </p:sp>
      <p:sp>
        <p:nvSpPr>
          <p:cNvPr id="10" name="Text 8"/>
          <p:cNvSpPr/>
          <p:nvPr/>
        </p:nvSpPr>
        <p:spPr>
          <a:xfrm>
            <a:off x="960120" y="256032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HPA scales pods on CPU/RAM</a:t>
            </a:r>
            <a:endParaRPr lang="en-US" sz="1200" dirty="0"/>
          </a:p>
        </p:txBody>
      </p:sp>
      <p:sp>
        <p:nvSpPr>
          <p:cNvPr id="11" name="Shape 9"/>
          <p:cNvSpPr/>
          <p:nvPr/>
        </p:nvSpPr>
        <p:spPr>
          <a:xfrm>
            <a:off x="731520" y="3246120"/>
            <a:ext cx="137160" cy="137160"/>
          </a:xfrm>
          <a:prstGeom prst="ellipse">
            <a:avLst/>
          </a:prstGeom>
          <a:solidFill>
            <a:srgbClr val="5EA0EF"/>
          </a:solidFill>
          <a:ln w="12700">
            <a:solidFill>
              <a:srgbClr val="333333"/>
            </a:solidFill>
            <a:prstDash val="solid"/>
          </a:ln>
        </p:spPr>
      </p:sp>
      <p:sp>
        <p:nvSpPr>
          <p:cNvPr id="12" name="Text 10"/>
          <p:cNvSpPr/>
          <p:nvPr/>
        </p:nvSpPr>
        <p:spPr>
          <a:xfrm>
            <a:off x="960120" y="315468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VPA right-sizes pod requests</a:t>
            </a:r>
            <a:endParaRPr lang="en-US" sz="1200" dirty="0"/>
          </a:p>
        </p:txBody>
      </p:sp>
      <p:sp>
        <p:nvSpPr>
          <p:cNvPr id="13" name="Shape 11"/>
          <p:cNvSpPr/>
          <p:nvPr/>
        </p:nvSpPr>
        <p:spPr>
          <a:xfrm>
            <a:off x="731520" y="3840480"/>
            <a:ext cx="137160" cy="137160"/>
          </a:xfrm>
          <a:prstGeom prst="ellipse">
            <a:avLst/>
          </a:prstGeom>
          <a:solidFill>
            <a:srgbClr val="5EA0EF"/>
          </a:solidFill>
          <a:ln w="12700">
            <a:solidFill>
              <a:srgbClr val="333333"/>
            </a:solidFill>
            <a:prstDash val="solid"/>
          </a:ln>
        </p:spPr>
      </p:sp>
      <p:sp>
        <p:nvSpPr>
          <p:cNvPr id="14" name="Text 12"/>
          <p:cNvSpPr/>
          <p:nvPr/>
        </p:nvSpPr>
        <p:spPr>
          <a:xfrm>
            <a:off x="960120" y="374904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KEDA scales pods on events (queue depth, Kafka lag, cron)</a:t>
            </a:r>
            <a:endParaRPr lang="en-US" sz="1200" dirty="0"/>
          </a:p>
        </p:txBody>
      </p:sp>
      <p:sp>
        <p:nvSpPr>
          <p:cNvPr id="15" name="Shape 13"/>
          <p:cNvSpPr/>
          <p:nvPr/>
        </p:nvSpPr>
        <p:spPr>
          <a:xfrm>
            <a:off x="731520" y="4434840"/>
            <a:ext cx="137160" cy="137160"/>
          </a:xfrm>
          <a:prstGeom prst="ellipse">
            <a:avLst/>
          </a:prstGeom>
          <a:solidFill>
            <a:srgbClr val="5EA0EF"/>
          </a:solidFill>
          <a:ln w="12700">
            <a:solidFill>
              <a:srgbClr val="333333"/>
            </a:solidFill>
            <a:prstDash val="solid"/>
          </a:ln>
        </p:spPr>
      </p:sp>
      <p:sp>
        <p:nvSpPr>
          <p:cNvPr id="16" name="Text 14"/>
          <p:cNvSpPr/>
          <p:nvPr/>
        </p:nvSpPr>
        <p:spPr>
          <a:xfrm>
            <a:off x="960120" y="434340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NAP then provisions the nodes underneath</a:t>
            </a:r>
            <a:endParaRPr lang="en-US" sz="1200" dirty="0"/>
          </a:p>
        </p:txBody>
      </p:sp>
      <p:sp>
        <p:nvSpPr>
          <p:cNvPr id="17" name="Shape 15"/>
          <p:cNvSpPr/>
          <p:nvPr/>
        </p:nvSpPr>
        <p:spPr>
          <a:xfrm>
            <a:off x="731520" y="5532120"/>
            <a:ext cx="3087624" cy="457200"/>
          </a:xfrm>
          <a:prstGeom prst="roundRect">
            <a:avLst>
              <a:gd name="adj" fmla="val 12000"/>
            </a:avLst>
          </a:prstGeom>
          <a:solidFill>
            <a:srgbClr val="0B1B2E"/>
          </a:solidFill>
          <a:ln w="12700">
            <a:solidFill>
              <a:srgbClr val="333333"/>
            </a:solidFill>
            <a:prstDash val="solid"/>
          </a:ln>
        </p:spPr>
      </p:sp>
      <p:sp>
        <p:nvSpPr>
          <p:cNvPr id="18" name="Text 16"/>
          <p:cNvSpPr/>
          <p:nvPr/>
        </p:nvSpPr>
        <p:spPr>
          <a:xfrm>
            <a:off x="731520" y="5532120"/>
            <a:ext cx="3087624" cy="457200"/>
          </a:xfrm>
          <a:prstGeom prst="rect">
            <a:avLst/>
          </a:prstGeom>
          <a:noFill/>
          <a:ln/>
        </p:spPr>
        <p:txBody>
          <a:bodyPr wrap="square" rtlCol="0" anchor="ctr"/>
          <a:lstStyle/>
          <a:p>
            <a:pPr algn="ctr" indent="0" marL="0">
              <a:buNone/>
            </a:pPr>
            <a:r>
              <a:rPr lang="en-US" sz="1100" b="1" dirty="0">
                <a:solidFill>
                  <a:srgbClr val="5EA0EF"/>
                </a:solidFill>
                <a:latin typeface="Consolas" pitchFamily="34" charset="0"/>
                <a:ea typeface="Consolas" pitchFamily="34" charset="-122"/>
                <a:cs typeface="Consolas" pitchFamily="34" charset="-120"/>
              </a:rPr>
              <a:t>Pods scale → NAP scales the floor.</a:t>
            </a:r>
            <a:endParaRPr lang="en-US" sz="1100" dirty="0"/>
          </a:p>
        </p:txBody>
      </p:sp>
      <p:sp>
        <p:nvSpPr>
          <p:cNvPr id="19" name="Shape 17"/>
          <p:cNvSpPr/>
          <p:nvPr/>
        </p:nvSpPr>
        <p:spPr>
          <a:xfrm>
            <a:off x="4276344" y="1325880"/>
            <a:ext cx="3636264" cy="4846320"/>
          </a:xfrm>
          <a:prstGeom prst="roundRect">
            <a:avLst>
              <a:gd name="adj" fmla="val 3018"/>
            </a:avLst>
          </a:prstGeom>
          <a:solidFill>
            <a:srgbClr val="FFFFFF"/>
          </a:solidFill>
          <a:ln w="12700">
            <a:solidFill>
              <a:srgbClr val="E1E6EE"/>
            </a:solidFill>
            <a:prstDash val="solid"/>
          </a:ln>
        </p:spPr>
      </p:sp>
      <p:sp>
        <p:nvSpPr>
          <p:cNvPr id="20" name="Shape 18"/>
          <p:cNvSpPr/>
          <p:nvPr/>
        </p:nvSpPr>
        <p:spPr>
          <a:xfrm>
            <a:off x="4276344" y="1325880"/>
            <a:ext cx="3636264" cy="146304"/>
          </a:xfrm>
          <a:prstGeom prst="rect">
            <a:avLst/>
          </a:prstGeom>
          <a:solidFill>
            <a:srgbClr val="A78BFA"/>
          </a:solidFill>
          <a:ln w="12700">
            <a:solidFill>
              <a:srgbClr val="333333"/>
            </a:solidFill>
            <a:prstDash val="solid"/>
          </a:ln>
        </p:spPr>
      </p:sp>
      <p:sp>
        <p:nvSpPr>
          <p:cNvPr id="21" name="Text 19"/>
          <p:cNvSpPr/>
          <p:nvPr/>
        </p:nvSpPr>
        <p:spPr>
          <a:xfrm>
            <a:off x="4550664" y="1600200"/>
            <a:ext cx="3087624" cy="320040"/>
          </a:xfrm>
          <a:prstGeom prst="rect">
            <a:avLst/>
          </a:prstGeom>
          <a:noFill/>
          <a:ln/>
        </p:spPr>
        <p:txBody>
          <a:bodyPr wrap="square" rtlCol="0" anchor="ctr"/>
          <a:lstStyle/>
          <a:p>
            <a:pPr indent="0" marL="0">
              <a:buNone/>
            </a:pPr>
            <a:r>
              <a:rPr lang="en-US" sz="1100" b="1" spc="300" kern="0" dirty="0">
                <a:solidFill>
                  <a:srgbClr val="A78BFA"/>
                </a:solidFill>
                <a:latin typeface="Calibri" pitchFamily="34" charset="0"/>
                <a:ea typeface="Calibri" pitchFamily="34" charset="-122"/>
                <a:cs typeface="Calibri" pitchFamily="34" charset="-120"/>
              </a:rPr>
              <a:t>COST LEVER</a:t>
            </a:r>
            <a:endParaRPr lang="en-US" sz="1100" dirty="0"/>
          </a:p>
        </p:txBody>
      </p:sp>
      <p:sp>
        <p:nvSpPr>
          <p:cNvPr id="22" name="Text 20"/>
          <p:cNvSpPr/>
          <p:nvPr/>
        </p:nvSpPr>
        <p:spPr>
          <a:xfrm>
            <a:off x="4550664" y="1920240"/>
            <a:ext cx="3087624" cy="502920"/>
          </a:xfrm>
          <a:prstGeom prst="rect">
            <a:avLst/>
          </a:prstGeom>
          <a:noFill/>
          <a:ln/>
        </p:spPr>
        <p:txBody>
          <a:bodyPr wrap="square" rtlCol="0" anchor="ctr"/>
          <a:lstStyle/>
          <a:p>
            <a:pPr indent="0" marL="0">
              <a:buNone/>
            </a:pPr>
            <a:r>
              <a:rPr lang="en-US" sz="2000" b="1" dirty="0">
                <a:solidFill>
                  <a:srgbClr val="12233A"/>
                </a:solidFill>
                <a:latin typeface="Calibri" pitchFamily="34" charset="0"/>
                <a:ea typeface="Calibri" pitchFamily="34" charset="-122"/>
                <a:cs typeface="Calibri" pitchFamily="34" charset="-120"/>
              </a:rPr>
              <a:t>NAP + Spot VMs</a:t>
            </a:r>
            <a:endParaRPr lang="en-US" sz="2000" dirty="0"/>
          </a:p>
        </p:txBody>
      </p:sp>
      <p:sp>
        <p:nvSpPr>
          <p:cNvPr id="23" name="Shape 21"/>
          <p:cNvSpPr/>
          <p:nvPr/>
        </p:nvSpPr>
        <p:spPr>
          <a:xfrm>
            <a:off x="4550664" y="2651760"/>
            <a:ext cx="137160" cy="137160"/>
          </a:xfrm>
          <a:prstGeom prst="ellipse">
            <a:avLst/>
          </a:prstGeom>
          <a:solidFill>
            <a:srgbClr val="A78BFA"/>
          </a:solidFill>
          <a:ln w="12700">
            <a:solidFill>
              <a:srgbClr val="333333"/>
            </a:solidFill>
            <a:prstDash val="solid"/>
          </a:ln>
        </p:spPr>
      </p:sp>
      <p:sp>
        <p:nvSpPr>
          <p:cNvPr id="24" name="Text 22"/>
          <p:cNvSpPr/>
          <p:nvPr/>
        </p:nvSpPr>
        <p:spPr>
          <a:xfrm>
            <a:off x="4779264" y="256032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Up to 90% cheaper than on-demand</a:t>
            </a:r>
            <a:endParaRPr lang="en-US" sz="1200" dirty="0"/>
          </a:p>
        </p:txBody>
      </p:sp>
      <p:sp>
        <p:nvSpPr>
          <p:cNvPr id="25" name="Shape 23"/>
          <p:cNvSpPr/>
          <p:nvPr/>
        </p:nvSpPr>
        <p:spPr>
          <a:xfrm>
            <a:off x="4550664" y="3246120"/>
            <a:ext cx="137160" cy="137160"/>
          </a:xfrm>
          <a:prstGeom prst="ellipse">
            <a:avLst/>
          </a:prstGeom>
          <a:solidFill>
            <a:srgbClr val="A78BFA"/>
          </a:solidFill>
          <a:ln w="12700">
            <a:solidFill>
              <a:srgbClr val="333333"/>
            </a:solidFill>
            <a:prstDash val="solid"/>
          </a:ln>
        </p:spPr>
      </p:sp>
      <p:sp>
        <p:nvSpPr>
          <p:cNvPr id="26" name="Text 24"/>
          <p:cNvSpPr/>
          <p:nvPr/>
        </p:nvSpPr>
        <p:spPr>
          <a:xfrm>
            <a:off x="4779264" y="315468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Azure can evict with ~30s notice</a:t>
            </a:r>
            <a:endParaRPr lang="en-US" sz="1200" dirty="0"/>
          </a:p>
        </p:txBody>
      </p:sp>
      <p:sp>
        <p:nvSpPr>
          <p:cNvPr id="27" name="Shape 25"/>
          <p:cNvSpPr/>
          <p:nvPr/>
        </p:nvSpPr>
        <p:spPr>
          <a:xfrm>
            <a:off x="4550664" y="3840480"/>
            <a:ext cx="137160" cy="137160"/>
          </a:xfrm>
          <a:prstGeom prst="ellipse">
            <a:avLst/>
          </a:prstGeom>
          <a:solidFill>
            <a:srgbClr val="A78BFA"/>
          </a:solidFill>
          <a:ln w="12700">
            <a:solidFill>
              <a:srgbClr val="333333"/>
            </a:solidFill>
            <a:prstDash val="solid"/>
          </a:ln>
        </p:spPr>
      </p:sp>
      <p:sp>
        <p:nvSpPr>
          <p:cNvPr id="28" name="Text 26"/>
          <p:cNvSpPr/>
          <p:nvPr/>
        </p:nvSpPr>
        <p:spPr>
          <a:xfrm>
            <a:off x="4779264" y="374904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Great for: batch jobs, dev/test, large compute</a:t>
            </a:r>
            <a:endParaRPr lang="en-US" sz="1200" dirty="0"/>
          </a:p>
        </p:txBody>
      </p:sp>
      <p:sp>
        <p:nvSpPr>
          <p:cNvPr id="29" name="Shape 27"/>
          <p:cNvSpPr/>
          <p:nvPr/>
        </p:nvSpPr>
        <p:spPr>
          <a:xfrm>
            <a:off x="4550664" y="4434840"/>
            <a:ext cx="137160" cy="137160"/>
          </a:xfrm>
          <a:prstGeom prst="ellipse">
            <a:avLst/>
          </a:prstGeom>
          <a:solidFill>
            <a:srgbClr val="A78BFA"/>
          </a:solidFill>
          <a:ln w="12700">
            <a:solidFill>
              <a:srgbClr val="333333"/>
            </a:solidFill>
            <a:prstDash val="solid"/>
          </a:ln>
        </p:spPr>
      </p:sp>
      <p:sp>
        <p:nvSpPr>
          <p:cNvPr id="30" name="Text 28"/>
          <p:cNvSpPr/>
          <p:nvPr/>
        </p:nvSpPr>
        <p:spPr>
          <a:xfrm>
            <a:off x="4779264" y="434340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Mix on-demand + Spot in one pool — NAP picks per pod</a:t>
            </a:r>
            <a:endParaRPr lang="en-US" sz="1200" dirty="0"/>
          </a:p>
        </p:txBody>
      </p:sp>
      <p:sp>
        <p:nvSpPr>
          <p:cNvPr id="31" name="Shape 29"/>
          <p:cNvSpPr/>
          <p:nvPr/>
        </p:nvSpPr>
        <p:spPr>
          <a:xfrm>
            <a:off x="4550664" y="5532120"/>
            <a:ext cx="3087624" cy="457200"/>
          </a:xfrm>
          <a:prstGeom prst="roundRect">
            <a:avLst>
              <a:gd name="adj" fmla="val 12000"/>
            </a:avLst>
          </a:prstGeom>
          <a:solidFill>
            <a:srgbClr val="0B1B2E"/>
          </a:solidFill>
          <a:ln w="12700">
            <a:solidFill>
              <a:srgbClr val="333333"/>
            </a:solidFill>
            <a:prstDash val="solid"/>
          </a:ln>
        </p:spPr>
      </p:sp>
      <p:sp>
        <p:nvSpPr>
          <p:cNvPr id="32" name="Text 30"/>
          <p:cNvSpPr/>
          <p:nvPr/>
        </p:nvSpPr>
        <p:spPr>
          <a:xfrm>
            <a:off x="4550664" y="5532120"/>
            <a:ext cx="3087624" cy="457200"/>
          </a:xfrm>
          <a:prstGeom prst="rect">
            <a:avLst/>
          </a:prstGeom>
          <a:noFill/>
          <a:ln/>
        </p:spPr>
        <p:txBody>
          <a:bodyPr wrap="square" rtlCol="0" anchor="ctr"/>
          <a:lstStyle/>
          <a:p>
            <a:pPr algn="ctr" indent="0" marL="0">
              <a:buNone/>
            </a:pPr>
            <a:r>
              <a:rPr lang="en-US" sz="1100" b="1" dirty="0">
                <a:solidFill>
                  <a:srgbClr val="A78BFA"/>
                </a:solidFill>
                <a:latin typeface="Consolas" pitchFamily="34" charset="0"/>
                <a:ea typeface="Consolas" pitchFamily="34" charset="-122"/>
                <a:cs typeface="Consolas" pitchFamily="34" charset="-120"/>
              </a:rPr>
              <a:t>capacity-type ∈ [on-demand, spot]</a:t>
            </a:r>
            <a:endParaRPr lang="en-US" sz="1100" dirty="0"/>
          </a:p>
        </p:txBody>
      </p:sp>
      <p:sp>
        <p:nvSpPr>
          <p:cNvPr id="33" name="Shape 31"/>
          <p:cNvSpPr/>
          <p:nvPr/>
        </p:nvSpPr>
        <p:spPr>
          <a:xfrm>
            <a:off x="8095488" y="1325880"/>
            <a:ext cx="3636264" cy="4846320"/>
          </a:xfrm>
          <a:prstGeom prst="roundRect">
            <a:avLst>
              <a:gd name="adj" fmla="val 3018"/>
            </a:avLst>
          </a:prstGeom>
          <a:solidFill>
            <a:srgbClr val="FFFFFF"/>
          </a:solidFill>
          <a:ln w="12700">
            <a:solidFill>
              <a:srgbClr val="E1E6EE"/>
            </a:solidFill>
            <a:prstDash val="solid"/>
          </a:ln>
        </p:spPr>
      </p:sp>
      <p:sp>
        <p:nvSpPr>
          <p:cNvPr id="34" name="Shape 32"/>
          <p:cNvSpPr/>
          <p:nvPr/>
        </p:nvSpPr>
        <p:spPr>
          <a:xfrm>
            <a:off x="8095488" y="1325880"/>
            <a:ext cx="3636264" cy="146304"/>
          </a:xfrm>
          <a:prstGeom prst="rect">
            <a:avLst/>
          </a:prstGeom>
          <a:solidFill>
            <a:srgbClr val="5BD68A"/>
          </a:solidFill>
          <a:ln w="12700">
            <a:solidFill>
              <a:srgbClr val="333333"/>
            </a:solidFill>
            <a:prstDash val="solid"/>
          </a:ln>
        </p:spPr>
      </p:sp>
      <p:sp>
        <p:nvSpPr>
          <p:cNvPr id="35" name="Text 33"/>
          <p:cNvSpPr/>
          <p:nvPr/>
        </p:nvSpPr>
        <p:spPr>
          <a:xfrm>
            <a:off x="8369808" y="1600200"/>
            <a:ext cx="3087624" cy="320040"/>
          </a:xfrm>
          <a:prstGeom prst="rect">
            <a:avLst/>
          </a:prstGeom>
          <a:noFill/>
          <a:ln/>
        </p:spPr>
        <p:txBody>
          <a:bodyPr wrap="square" rtlCol="0" anchor="ctr"/>
          <a:lstStyle/>
          <a:p>
            <a:pPr indent="0" marL="0">
              <a:buNone/>
            </a:pPr>
            <a:r>
              <a:rPr lang="en-US" sz="1100" b="1" spc="300" kern="0" dirty="0">
                <a:solidFill>
                  <a:srgbClr val="5BD68A"/>
                </a:solidFill>
                <a:latin typeface="Calibri" pitchFamily="34" charset="0"/>
                <a:ea typeface="Calibri" pitchFamily="34" charset="-122"/>
                <a:cs typeface="Calibri" pitchFamily="34" charset="-120"/>
              </a:rPr>
              <a:t>ARCH MIX</a:t>
            </a:r>
            <a:endParaRPr lang="en-US" sz="1100" dirty="0"/>
          </a:p>
        </p:txBody>
      </p:sp>
      <p:sp>
        <p:nvSpPr>
          <p:cNvPr id="36" name="Text 34"/>
          <p:cNvSpPr/>
          <p:nvPr/>
        </p:nvSpPr>
        <p:spPr>
          <a:xfrm>
            <a:off x="8369808" y="1920240"/>
            <a:ext cx="3087624" cy="502920"/>
          </a:xfrm>
          <a:prstGeom prst="rect">
            <a:avLst/>
          </a:prstGeom>
          <a:noFill/>
          <a:ln/>
        </p:spPr>
        <p:txBody>
          <a:bodyPr wrap="square" rtlCol="0" anchor="ctr"/>
          <a:lstStyle/>
          <a:p>
            <a:pPr indent="0" marL="0">
              <a:buNone/>
            </a:pPr>
            <a:r>
              <a:rPr lang="en-US" sz="2000" b="1" dirty="0">
                <a:solidFill>
                  <a:srgbClr val="12233A"/>
                </a:solidFill>
                <a:latin typeface="Calibri" pitchFamily="34" charset="0"/>
                <a:ea typeface="Calibri" pitchFamily="34" charset="-122"/>
                <a:cs typeface="Calibri" pitchFamily="34" charset="-120"/>
              </a:rPr>
              <a:t>Intel · AMD · ARM64</a:t>
            </a:r>
            <a:endParaRPr lang="en-US" sz="2000" dirty="0"/>
          </a:p>
        </p:txBody>
      </p:sp>
      <p:sp>
        <p:nvSpPr>
          <p:cNvPr id="37" name="Shape 35"/>
          <p:cNvSpPr/>
          <p:nvPr/>
        </p:nvSpPr>
        <p:spPr>
          <a:xfrm>
            <a:off x="8369808" y="2651760"/>
            <a:ext cx="137160" cy="137160"/>
          </a:xfrm>
          <a:prstGeom prst="ellipse">
            <a:avLst/>
          </a:prstGeom>
          <a:solidFill>
            <a:srgbClr val="5BD68A"/>
          </a:solidFill>
          <a:ln w="12700">
            <a:solidFill>
              <a:srgbClr val="333333"/>
            </a:solidFill>
            <a:prstDash val="solid"/>
          </a:ln>
        </p:spPr>
      </p:sp>
      <p:sp>
        <p:nvSpPr>
          <p:cNvPr id="38" name="Text 36"/>
          <p:cNvSpPr/>
          <p:nvPr/>
        </p:nvSpPr>
        <p:spPr>
          <a:xfrm>
            <a:off x="8598408" y="256032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NAP supports x86 (Intel + AMD) and ARM64 (Cobalt) in one cluster</a:t>
            </a:r>
            <a:endParaRPr lang="en-US" sz="1200" dirty="0"/>
          </a:p>
        </p:txBody>
      </p:sp>
      <p:sp>
        <p:nvSpPr>
          <p:cNvPr id="39" name="Shape 37"/>
          <p:cNvSpPr/>
          <p:nvPr/>
        </p:nvSpPr>
        <p:spPr>
          <a:xfrm>
            <a:off x="8369808" y="3246120"/>
            <a:ext cx="137160" cy="137160"/>
          </a:xfrm>
          <a:prstGeom prst="ellipse">
            <a:avLst/>
          </a:prstGeom>
          <a:solidFill>
            <a:srgbClr val="5BD68A"/>
          </a:solidFill>
          <a:ln w="12700">
            <a:solidFill>
              <a:srgbClr val="333333"/>
            </a:solidFill>
            <a:prstDash val="solid"/>
          </a:ln>
        </p:spPr>
      </p:sp>
      <p:sp>
        <p:nvSpPr>
          <p:cNvPr id="40" name="Text 38"/>
          <p:cNvSpPr/>
          <p:nvPr/>
        </p:nvSpPr>
        <p:spPr>
          <a:xfrm>
            <a:off x="8598408" y="315468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Karpenter places each pod on the arch its image supports</a:t>
            </a:r>
            <a:endParaRPr lang="en-US" sz="1200" dirty="0"/>
          </a:p>
        </p:txBody>
      </p:sp>
      <p:sp>
        <p:nvSpPr>
          <p:cNvPr id="41" name="Shape 39"/>
          <p:cNvSpPr/>
          <p:nvPr/>
        </p:nvSpPr>
        <p:spPr>
          <a:xfrm>
            <a:off x="8369808" y="3840480"/>
            <a:ext cx="137160" cy="137160"/>
          </a:xfrm>
          <a:prstGeom prst="ellipse">
            <a:avLst/>
          </a:prstGeom>
          <a:solidFill>
            <a:srgbClr val="5BD68A"/>
          </a:solidFill>
          <a:ln w="12700">
            <a:solidFill>
              <a:srgbClr val="333333"/>
            </a:solidFill>
            <a:prstDash val="solid"/>
          </a:ln>
        </p:spPr>
      </p:sp>
      <p:sp>
        <p:nvSpPr>
          <p:cNvPr id="42" name="Text 40"/>
          <p:cNvSpPr/>
          <p:nvPr/>
        </p:nvSpPr>
        <p:spPr>
          <a:xfrm>
            <a:off x="8598408" y="374904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ARM64 → big $/perf wins on stateless services</a:t>
            </a:r>
            <a:endParaRPr lang="en-US" sz="1200" dirty="0"/>
          </a:p>
        </p:txBody>
      </p:sp>
      <p:sp>
        <p:nvSpPr>
          <p:cNvPr id="43" name="Shape 41"/>
          <p:cNvSpPr/>
          <p:nvPr/>
        </p:nvSpPr>
        <p:spPr>
          <a:xfrm>
            <a:off x="8369808" y="4434840"/>
            <a:ext cx="137160" cy="137160"/>
          </a:xfrm>
          <a:prstGeom prst="ellipse">
            <a:avLst/>
          </a:prstGeom>
          <a:solidFill>
            <a:srgbClr val="5BD68A"/>
          </a:solidFill>
          <a:ln w="12700">
            <a:solidFill>
              <a:srgbClr val="333333"/>
            </a:solidFill>
            <a:prstDash val="solid"/>
          </a:ln>
        </p:spPr>
      </p:sp>
      <p:sp>
        <p:nvSpPr>
          <p:cNvPr id="44" name="Text 42"/>
          <p:cNvSpPr/>
          <p:nvPr/>
        </p:nvSpPr>
        <p:spPr>
          <a:xfrm>
            <a:off x="8598408" y="4343400"/>
            <a:ext cx="2859024" cy="54864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Enforce per workload via nodeSelector or affinity</a:t>
            </a:r>
            <a:endParaRPr lang="en-US" sz="1200" dirty="0"/>
          </a:p>
        </p:txBody>
      </p:sp>
      <p:sp>
        <p:nvSpPr>
          <p:cNvPr id="45" name="Shape 43"/>
          <p:cNvSpPr/>
          <p:nvPr/>
        </p:nvSpPr>
        <p:spPr>
          <a:xfrm>
            <a:off x="8369808" y="5532120"/>
            <a:ext cx="3087624" cy="457200"/>
          </a:xfrm>
          <a:prstGeom prst="roundRect">
            <a:avLst>
              <a:gd name="adj" fmla="val 12000"/>
            </a:avLst>
          </a:prstGeom>
          <a:solidFill>
            <a:srgbClr val="0B1B2E"/>
          </a:solidFill>
          <a:ln w="12700">
            <a:solidFill>
              <a:srgbClr val="333333"/>
            </a:solidFill>
            <a:prstDash val="solid"/>
          </a:ln>
        </p:spPr>
      </p:sp>
      <p:sp>
        <p:nvSpPr>
          <p:cNvPr id="46" name="Text 44"/>
          <p:cNvSpPr/>
          <p:nvPr/>
        </p:nvSpPr>
        <p:spPr>
          <a:xfrm>
            <a:off x="8369808" y="5532120"/>
            <a:ext cx="3087624" cy="457200"/>
          </a:xfrm>
          <a:prstGeom prst="rect">
            <a:avLst/>
          </a:prstGeom>
          <a:noFill/>
          <a:ln/>
        </p:spPr>
        <p:txBody>
          <a:bodyPr wrap="square" rtlCol="0" anchor="ctr"/>
          <a:lstStyle/>
          <a:p>
            <a:pPr algn="ctr" indent="0" marL="0">
              <a:buNone/>
            </a:pPr>
            <a:r>
              <a:rPr lang="en-US" sz="1100" b="1" dirty="0">
                <a:solidFill>
                  <a:srgbClr val="5BD68A"/>
                </a:solidFill>
                <a:latin typeface="Consolas" pitchFamily="34" charset="0"/>
                <a:ea typeface="Consolas" pitchFamily="34" charset="-122"/>
                <a:cs typeface="Consolas" pitchFamily="34" charset="-120"/>
              </a:rPr>
              <a:t>kubernetes.io/arch ∈ [amd64, arm64]</a:t>
            </a:r>
            <a:endParaRPr lang="en-US" sz="1100" dirty="0"/>
          </a:p>
        </p:txBody>
      </p:sp>
      <p:sp>
        <p:nvSpPr>
          <p:cNvPr id="47" name="Text 45"/>
          <p:cNvSpPr/>
          <p:nvPr/>
        </p:nvSpPr>
        <p:spPr>
          <a:xfrm>
            <a:off x="457200" y="6263640"/>
            <a:ext cx="11247120" cy="320040"/>
          </a:xfrm>
          <a:prstGeom prst="rect">
            <a:avLst/>
          </a:prstGeom>
          <a:noFill/>
          <a:ln/>
        </p:spPr>
        <p:txBody>
          <a:bodyPr wrap="square" rtlCol="0" anchor="ctr"/>
          <a:lstStyle/>
          <a:p>
            <a:pPr algn="ctr" indent="0" marL="0">
              <a:buNone/>
            </a:pPr>
            <a:r>
              <a:rPr lang="en-US" sz="1400" i="1" dirty="0">
                <a:solidFill>
                  <a:srgbClr val="065A82"/>
                </a:solidFill>
                <a:latin typeface="Calibri" pitchFamily="34" charset="0"/>
                <a:ea typeface="Calibri" pitchFamily="34" charset="-122"/>
                <a:cs typeface="Calibri" pitchFamily="34" charset="-120"/>
              </a:rPr>
              <a:t>NAP is the floor. HPA · VPA · KEDA · Spot · ARM all sit on top.</a:t>
            </a:r>
            <a:endParaRPr lang="en-US" sz="1400" dirty="0"/>
          </a:p>
        </p:txBody>
      </p:sp>
      <p:sp>
        <p:nvSpPr>
          <p:cNvPr id="48" name="Text 46"/>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49" name="Text 47"/>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6 / 14</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STEERING NAP PRECISELY</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Taints, tolerations, affinity &amp; topology</a:t>
            </a:r>
            <a:endParaRPr lang="en-US" sz="3000" dirty="0"/>
          </a:p>
        </p:txBody>
      </p:sp>
      <p:sp>
        <p:nvSpPr>
          <p:cNvPr id="5" name="Shape 3"/>
          <p:cNvSpPr/>
          <p:nvPr/>
        </p:nvSpPr>
        <p:spPr>
          <a:xfrm>
            <a:off x="457200" y="1371600"/>
            <a:ext cx="6949440" cy="1097280"/>
          </a:xfrm>
          <a:prstGeom prst="roundRect">
            <a:avLst>
              <a:gd name="adj" fmla="val 8333"/>
            </a:avLst>
          </a:prstGeom>
          <a:solidFill>
            <a:srgbClr val="FFFFFF"/>
          </a:solidFill>
          <a:ln w="12700">
            <a:solidFill>
              <a:srgbClr val="E1E6EE"/>
            </a:solidFill>
            <a:prstDash val="solid"/>
          </a:ln>
        </p:spPr>
      </p:sp>
      <p:sp>
        <p:nvSpPr>
          <p:cNvPr id="6" name="Shape 4"/>
          <p:cNvSpPr/>
          <p:nvPr/>
        </p:nvSpPr>
        <p:spPr>
          <a:xfrm>
            <a:off x="457200" y="1371600"/>
            <a:ext cx="137160" cy="1097280"/>
          </a:xfrm>
          <a:prstGeom prst="rect">
            <a:avLst/>
          </a:prstGeom>
          <a:solidFill>
            <a:srgbClr val="FF5A4A"/>
          </a:solidFill>
          <a:ln w="12700">
            <a:solidFill>
              <a:srgbClr val="333333"/>
            </a:solidFill>
            <a:prstDash val="solid"/>
          </a:ln>
        </p:spPr>
      </p:sp>
      <p:sp>
        <p:nvSpPr>
          <p:cNvPr id="7" name="Text 5"/>
          <p:cNvSpPr/>
          <p:nvPr/>
        </p:nvSpPr>
        <p:spPr>
          <a:xfrm>
            <a:off x="731520" y="1463040"/>
            <a:ext cx="6400800" cy="365760"/>
          </a:xfrm>
          <a:prstGeom prst="rect">
            <a:avLst/>
          </a:prstGeom>
          <a:noFill/>
          <a:ln/>
        </p:spPr>
        <p:txBody>
          <a:bodyPr wrap="square" rtlCol="0" anchor="ctr"/>
          <a:lstStyle/>
          <a:p>
            <a:pPr indent="0" marL="0">
              <a:buNone/>
            </a:pPr>
            <a:r>
              <a:rPr lang="en-US" sz="1500" b="1" dirty="0">
                <a:solidFill>
                  <a:srgbClr val="12233A"/>
                </a:solidFill>
                <a:latin typeface="Calibri" pitchFamily="34" charset="0"/>
                <a:ea typeface="Calibri" pitchFamily="34" charset="-122"/>
                <a:cs typeface="Calibri" pitchFamily="34" charset="-120"/>
              </a:rPr>
              <a:t>Taints + tolerations</a:t>
            </a:r>
            <a:endParaRPr lang="en-US" sz="1500" dirty="0"/>
          </a:p>
        </p:txBody>
      </p:sp>
      <p:sp>
        <p:nvSpPr>
          <p:cNvPr id="8" name="Text 6"/>
          <p:cNvSpPr/>
          <p:nvPr/>
        </p:nvSpPr>
        <p:spPr>
          <a:xfrm>
            <a:off x="731520" y="1783080"/>
            <a:ext cx="6400800" cy="411480"/>
          </a:xfrm>
          <a:prstGeom prst="rect">
            <a:avLst/>
          </a:prstGeom>
          <a:noFill/>
          <a:ln/>
        </p:spPr>
        <p:txBody>
          <a:bodyPr wrap="square" rtlCol="0" anchor="ctr"/>
          <a:lstStyle/>
          <a:p>
            <a:pPr indent="0" marL="0">
              <a:buNone/>
            </a:pPr>
            <a:r>
              <a:rPr lang="en-US" sz="1200" i="1" dirty="0">
                <a:solidFill>
                  <a:srgbClr val="12233A"/>
                </a:solidFill>
                <a:latin typeface="Calibri" pitchFamily="34" charset="0"/>
                <a:ea typeface="Calibri" pitchFamily="34" charset="-122"/>
                <a:cs typeface="Calibri" pitchFamily="34" charset="-120"/>
              </a:rPr>
              <a:t>"Only pods that explicitly opt in can land on these nodes."</a:t>
            </a:r>
            <a:endParaRPr lang="en-US" sz="1200" dirty="0"/>
          </a:p>
        </p:txBody>
      </p:sp>
      <p:sp>
        <p:nvSpPr>
          <p:cNvPr id="9" name="Text 7"/>
          <p:cNvSpPr/>
          <p:nvPr/>
        </p:nvSpPr>
        <p:spPr>
          <a:xfrm>
            <a:off x="731520" y="2148840"/>
            <a:ext cx="6400800" cy="274320"/>
          </a:xfrm>
          <a:prstGeom prst="rect">
            <a:avLst/>
          </a:prstGeom>
          <a:noFill/>
          <a:ln/>
        </p:spPr>
        <p:txBody>
          <a:bodyPr wrap="square" rtlCol="0" anchor="ctr"/>
          <a:lstStyle/>
          <a:p>
            <a:pPr indent="0" marL="0">
              <a:buNone/>
            </a:pPr>
            <a:r>
              <a:rPr lang="en-US" sz="1100" dirty="0">
                <a:solidFill>
                  <a:srgbClr val="FF5A4A"/>
                </a:solidFill>
                <a:latin typeface="Calibri" pitchFamily="34" charset="0"/>
                <a:ea typeface="Calibri" pitchFamily="34" charset="-122"/>
                <a:cs typeface="Calibri" pitchFamily="34" charset="-120"/>
              </a:rPr>
              <a:t>Use for: GPU pools · Spot pools · PCI-isolated workloads</a:t>
            </a:r>
            <a:endParaRPr lang="en-US" sz="1100" dirty="0"/>
          </a:p>
        </p:txBody>
      </p:sp>
      <p:sp>
        <p:nvSpPr>
          <p:cNvPr id="10" name="Shape 8"/>
          <p:cNvSpPr/>
          <p:nvPr/>
        </p:nvSpPr>
        <p:spPr>
          <a:xfrm>
            <a:off x="457200" y="2651760"/>
            <a:ext cx="6949440" cy="1097280"/>
          </a:xfrm>
          <a:prstGeom prst="roundRect">
            <a:avLst>
              <a:gd name="adj" fmla="val 8333"/>
            </a:avLst>
          </a:prstGeom>
          <a:solidFill>
            <a:srgbClr val="FFFFFF"/>
          </a:solidFill>
          <a:ln w="12700">
            <a:solidFill>
              <a:srgbClr val="E1E6EE"/>
            </a:solidFill>
            <a:prstDash val="solid"/>
          </a:ln>
        </p:spPr>
      </p:sp>
      <p:sp>
        <p:nvSpPr>
          <p:cNvPr id="11" name="Shape 9"/>
          <p:cNvSpPr/>
          <p:nvPr/>
        </p:nvSpPr>
        <p:spPr>
          <a:xfrm>
            <a:off x="457200" y="2651760"/>
            <a:ext cx="137160" cy="1097280"/>
          </a:xfrm>
          <a:prstGeom prst="rect">
            <a:avLst/>
          </a:prstGeom>
          <a:solidFill>
            <a:srgbClr val="5EA0EF"/>
          </a:solidFill>
          <a:ln w="12700">
            <a:solidFill>
              <a:srgbClr val="333333"/>
            </a:solidFill>
            <a:prstDash val="solid"/>
          </a:ln>
        </p:spPr>
      </p:sp>
      <p:sp>
        <p:nvSpPr>
          <p:cNvPr id="12" name="Text 10"/>
          <p:cNvSpPr/>
          <p:nvPr/>
        </p:nvSpPr>
        <p:spPr>
          <a:xfrm>
            <a:off x="731520" y="2743200"/>
            <a:ext cx="6400800" cy="365760"/>
          </a:xfrm>
          <a:prstGeom prst="rect">
            <a:avLst/>
          </a:prstGeom>
          <a:noFill/>
          <a:ln/>
        </p:spPr>
        <p:txBody>
          <a:bodyPr wrap="square" rtlCol="0" anchor="ctr"/>
          <a:lstStyle/>
          <a:p>
            <a:pPr indent="0" marL="0">
              <a:buNone/>
            </a:pPr>
            <a:r>
              <a:rPr lang="en-US" sz="1500" b="1" dirty="0">
                <a:solidFill>
                  <a:srgbClr val="12233A"/>
                </a:solidFill>
                <a:latin typeface="Calibri" pitchFamily="34" charset="0"/>
                <a:ea typeface="Calibri" pitchFamily="34" charset="-122"/>
                <a:cs typeface="Calibri" pitchFamily="34" charset="-120"/>
              </a:rPr>
              <a:t>Node affinity</a:t>
            </a:r>
            <a:endParaRPr lang="en-US" sz="1500" dirty="0"/>
          </a:p>
        </p:txBody>
      </p:sp>
      <p:sp>
        <p:nvSpPr>
          <p:cNvPr id="13" name="Text 11"/>
          <p:cNvSpPr/>
          <p:nvPr/>
        </p:nvSpPr>
        <p:spPr>
          <a:xfrm>
            <a:off x="731520" y="3063240"/>
            <a:ext cx="6400800" cy="411480"/>
          </a:xfrm>
          <a:prstGeom prst="rect">
            <a:avLst/>
          </a:prstGeom>
          <a:noFill/>
          <a:ln/>
        </p:spPr>
        <p:txBody>
          <a:bodyPr wrap="square" rtlCol="0" anchor="ctr"/>
          <a:lstStyle/>
          <a:p>
            <a:pPr indent="0" marL="0">
              <a:buNone/>
            </a:pPr>
            <a:r>
              <a:rPr lang="en-US" sz="1200" i="1" dirty="0">
                <a:solidFill>
                  <a:srgbClr val="12233A"/>
                </a:solidFill>
                <a:latin typeface="Calibri" pitchFamily="34" charset="0"/>
                <a:ea typeface="Calibri" pitchFamily="34" charset="-122"/>
                <a:cs typeface="Calibri" pitchFamily="34" charset="-120"/>
              </a:rPr>
              <a:t>"Prefer (or require) this pod to land on a node with these labels."</a:t>
            </a:r>
            <a:endParaRPr lang="en-US" sz="1200" dirty="0"/>
          </a:p>
        </p:txBody>
      </p:sp>
      <p:sp>
        <p:nvSpPr>
          <p:cNvPr id="14" name="Text 12"/>
          <p:cNvSpPr/>
          <p:nvPr/>
        </p:nvSpPr>
        <p:spPr>
          <a:xfrm>
            <a:off x="731520" y="3429000"/>
            <a:ext cx="6400800" cy="274320"/>
          </a:xfrm>
          <a:prstGeom prst="rect">
            <a:avLst/>
          </a:prstGeom>
          <a:noFill/>
          <a:ln/>
        </p:spPr>
        <p:txBody>
          <a:bodyPr wrap="square" rtlCol="0" anchor="ctr"/>
          <a:lstStyle/>
          <a:p>
            <a:pPr indent="0" marL="0">
              <a:buNone/>
            </a:pPr>
            <a:r>
              <a:rPr lang="en-US" sz="1100" dirty="0">
                <a:solidFill>
                  <a:srgbClr val="5EA0EF"/>
                </a:solidFill>
                <a:latin typeface="Calibri" pitchFamily="34" charset="0"/>
                <a:ea typeface="Calibri" pitchFamily="34" charset="-122"/>
                <a:cs typeface="Calibri" pitchFamily="34" charset="-120"/>
              </a:rPr>
              <a:t>Use for: Pin licensing-sensitive apps to specific SKUs</a:t>
            </a:r>
            <a:endParaRPr lang="en-US" sz="1100" dirty="0"/>
          </a:p>
        </p:txBody>
      </p:sp>
      <p:sp>
        <p:nvSpPr>
          <p:cNvPr id="15" name="Shape 13"/>
          <p:cNvSpPr/>
          <p:nvPr/>
        </p:nvSpPr>
        <p:spPr>
          <a:xfrm>
            <a:off x="457200" y="3931920"/>
            <a:ext cx="6949440" cy="1097280"/>
          </a:xfrm>
          <a:prstGeom prst="roundRect">
            <a:avLst>
              <a:gd name="adj" fmla="val 8333"/>
            </a:avLst>
          </a:prstGeom>
          <a:solidFill>
            <a:srgbClr val="FFFFFF"/>
          </a:solidFill>
          <a:ln w="12700">
            <a:solidFill>
              <a:srgbClr val="E1E6EE"/>
            </a:solidFill>
            <a:prstDash val="solid"/>
          </a:ln>
        </p:spPr>
      </p:sp>
      <p:sp>
        <p:nvSpPr>
          <p:cNvPr id="16" name="Shape 14"/>
          <p:cNvSpPr/>
          <p:nvPr/>
        </p:nvSpPr>
        <p:spPr>
          <a:xfrm>
            <a:off x="457200" y="3931920"/>
            <a:ext cx="137160" cy="1097280"/>
          </a:xfrm>
          <a:prstGeom prst="rect">
            <a:avLst/>
          </a:prstGeom>
          <a:solidFill>
            <a:srgbClr val="E8893D"/>
          </a:solidFill>
          <a:ln w="12700">
            <a:solidFill>
              <a:srgbClr val="333333"/>
            </a:solidFill>
            <a:prstDash val="solid"/>
          </a:ln>
        </p:spPr>
      </p:sp>
      <p:sp>
        <p:nvSpPr>
          <p:cNvPr id="17" name="Text 15"/>
          <p:cNvSpPr/>
          <p:nvPr/>
        </p:nvSpPr>
        <p:spPr>
          <a:xfrm>
            <a:off x="731520" y="4023360"/>
            <a:ext cx="6400800" cy="365760"/>
          </a:xfrm>
          <a:prstGeom prst="rect">
            <a:avLst/>
          </a:prstGeom>
          <a:noFill/>
          <a:ln/>
        </p:spPr>
        <p:txBody>
          <a:bodyPr wrap="square" rtlCol="0" anchor="ctr"/>
          <a:lstStyle/>
          <a:p>
            <a:pPr indent="0" marL="0">
              <a:buNone/>
            </a:pPr>
            <a:r>
              <a:rPr lang="en-US" sz="1500" b="1" dirty="0">
                <a:solidFill>
                  <a:srgbClr val="12233A"/>
                </a:solidFill>
                <a:latin typeface="Calibri" pitchFamily="34" charset="0"/>
                <a:ea typeface="Calibri" pitchFamily="34" charset="-122"/>
                <a:cs typeface="Calibri" pitchFamily="34" charset="-120"/>
              </a:rPr>
              <a:t>Pod anti-affinity</a:t>
            </a:r>
            <a:endParaRPr lang="en-US" sz="1500" dirty="0"/>
          </a:p>
        </p:txBody>
      </p:sp>
      <p:sp>
        <p:nvSpPr>
          <p:cNvPr id="18" name="Text 16"/>
          <p:cNvSpPr/>
          <p:nvPr/>
        </p:nvSpPr>
        <p:spPr>
          <a:xfrm>
            <a:off x="731520" y="4343400"/>
            <a:ext cx="6400800" cy="411480"/>
          </a:xfrm>
          <a:prstGeom prst="rect">
            <a:avLst/>
          </a:prstGeom>
          <a:noFill/>
          <a:ln/>
        </p:spPr>
        <p:txBody>
          <a:bodyPr wrap="square" rtlCol="0" anchor="ctr"/>
          <a:lstStyle/>
          <a:p>
            <a:pPr indent="0" marL="0">
              <a:buNone/>
            </a:pPr>
            <a:r>
              <a:rPr lang="en-US" sz="1200" i="1" dirty="0">
                <a:solidFill>
                  <a:srgbClr val="12233A"/>
                </a:solidFill>
                <a:latin typeface="Calibri" pitchFamily="34" charset="0"/>
                <a:ea typeface="Calibri" pitchFamily="34" charset="-122"/>
                <a:cs typeface="Calibri" pitchFamily="34" charset="-120"/>
              </a:rPr>
              <a:t>"Spread my replicas across nodes (or zones) so one failure doesn't take them all."</a:t>
            </a:r>
            <a:endParaRPr lang="en-US" sz="1200" dirty="0"/>
          </a:p>
        </p:txBody>
      </p:sp>
      <p:sp>
        <p:nvSpPr>
          <p:cNvPr id="19" name="Text 17"/>
          <p:cNvSpPr/>
          <p:nvPr/>
        </p:nvSpPr>
        <p:spPr>
          <a:xfrm>
            <a:off x="731520" y="4709160"/>
            <a:ext cx="6400800" cy="274320"/>
          </a:xfrm>
          <a:prstGeom prst="rect">
            <a:avLst/>
          </a:prstGeom>
          <a:noFill/>
          <a:ln/>
        </p:spPr>
        <p:txBody>
          <a:bodyPr wrap="square" rtlCol="0" anchor="ctr"/>
          <a:lstStyle/>
          <a:p>
            <a:pPr indent="0" marL="0">
              <a:buNone/>
            </a:pPr>
            <a:r>
              <a:rPr lang="en-US" sz="1100" dirty="0">
                <a:solidFill>
                  <a:srgbClr val="E8893D"/>
                </a:solidFill>
                <a:latin typeface="Calibri" pitchFamily="34" charset="0"/>
                <a:ea typeface="Calibri" pitchFamily="34" charset="-122"/>
                <a:cs typeface="Calibri" pitchFamily="34" charset="-120"/>
              </a:rPr>
              <a:t>Use for: HA web tiers · stateful sets</a:t>
            </a:r>
            <a:endParaRPr lang="en-US" sz="1100" dirty="0"/>
          </a:p>
        </p:txBody>
      </p:sp>
      <p:sp>
        <p:nvSpPr>
          <p:cNvPr id="20" name="Shape 18"/>
          <p:cNvSpPr/>
          <p:nvPr/>
        </p:nvSpPr>
        <p:spPr>
          <a:xfrm>
            <a:off x="457200" y="5212080"/>
            <a:ext cx="6949440" cy="1097280"/>
          </a:xfrm>
          <a:prstGeom prst="roundRect">
            <a:avLst>
              <a:gd name="adj" fmla="val 8333"/>
            </a:avLst>
          </a:prstGeom>
          <a:solidFill>
            <a:srgbClr val="FFFFFF"/>
          </a:solidFill>
          <a:ln w="12700">
            <a:solidFill>
              <a:srgbClr val="E1E6EE"/>
            </a:solidFill>
            <a:prstDash val="solid"/>
          </a:ln>
        </p:spPr>
      </p:sp>
      <p:sp>
        <p:nvSpPr>
          <p:cNvPr id="21" name="Shape 19"/>
          <p:cNvSpPr/>
          <p:nvPr/>
        </p:nvSpPr>
        <p:spPr>
          <a:xfrm>
            <a:off x="457200" y="5212080"/>
            <a:ext cx="137160" cy="1097280"/>
          </a:xfrm>
          <a:prstGeom prst="rect">
            <a:avLst/>
          </a:prstGeom>
          <a:solidFill>
            <a:srgbClr val="5BD68A"/>
          </a:solidFill>
          <a:ln w="12700">
            <a:solidFill>
              <a:srgbClr val="333333"/>
            </a:solidFill>
            <a:prstDash val="solid"/>
          </a:ln>
        </p:spPr>
      </p:sp>
      <p:sp>
        <p:nvSpPr>
          <p:cNvPr id="22" name="Text 20"/>
          <p:cNvSpPr/>
          <p:nvPr/>
        </p:nvSpPr>
        <p:spPr>
          <a:xfrm>
            <a:off x="731520" y="5303520"/>
            <a:ext cx="6400800" cy="365760"/>
          </a:xfrm>
          <a:prstGeom prst="rect">
            <a:avLst/>
          </a:prstGeom>
          <a:noFill/>
          <a:ln/>
        </p:spPr>
        <p:txBody>
          <a:bodyPr wrap="square" rtlCol="0" anchor="ctr"/>
          <a:lstStyle/>
          <a:p>
            <a:pPr indent="0" marL="0">
              <a:buNone/>
            </a:pPr>
            <a:r>
              <a:rPr lang="en-US" sz="1500" b="1" dirty="0">
                <a:solidFill>
                  <a:srgbClr val="12233A"/>
                </a:solidFill>
                <a:latin typeface="Calibri" pitchFamily="34" charset="0"/>
                <a:ea typeface="Calibri" pitchFamily="34" charset="-122"/>
                <a:cs typeface="Calibri" pitchFamily="34" charset="-120"/>
              </a:rPr>
              <a:t>Topology spread</a:t>
            </a:r>
            <a:endParaRPr lang="en-US" sz="1500" dirty="0"/>
          </a:p>
        </p:txBody>
      </p:sp>
      <p:sp>
        <p:nvSpPr>
          <p:cNvPr id="23" name="Text 21"/>
          <p:cNvSpPr/>
          <p:nvPr/>
        </p:nvSpPr>
        <p:spPr>
          <a:xfrm>
            <a:off x="731520" y="5623560"/>
            <a:ext cx="6400800" cy="411480"/>
          </a:xfrm>
          <a:prstGeom prst="rect">
            <a:avLst/>
          </a:prstGeom>
          <a:noFill/>
          <a:ln/>
        </p:spPr>
        <p:txBody>
          <a:bodyPr wrap="square" rtlCol="0" anchor="ctr"/>
          <a:lstStyle/>
          <a:p>
            <a:pPr indent="0" marL="0">
              <a:buNone/>
            </a:pPr>
            <a:r>
              <a:rPr lang="en-US" sz="1200" i="1" dirty="0">
                <a:solidFill>
                  <a:srgbClr val="12233A"/>
                </a:solidFill>
                <a:latin typeface="Calibri" pitchFamily="34" charset="0"/>
                <a:ea typeface="Calibri" pitchFamily="34" charset="-122"/>
                <a:cs typeface="Calibri" pitchFamily="34" charset="-120"/>
              </a:rPr>
              <a:t>"Balance pods evenly across zones / nodes / SKU families."</a:t>
            </a:r>
            <a:endParaRPr lang="en-US" sz="1200" dirty="0"/>
          </a:p>
        </p:txBody>
      </p:sp>
      <p:sp>
        <p:nvSpPr>
          <p:cNvPr id="24" name="Text 22"/>
          <p:cNvSpPr/>
          <p:nvPr/>
        </p:nvSpPr>
        <p:spPr>
          <a:xfrm>
            <a:off x="731520" y="5989320"/>
            <a:ext cx="6400800" cy="274320"/>
          </a:xfrm>
          <a:prstGeom prst="rect">
            <a:avLst/>
          </a:prstGeom>
          <a:noFill/>
          <a:ln/>
        </p:spPr>
        <p:txBody>
          <a:bodyPr wrap="square" rtlCol="0" anchor="ctr"/>
          <a:lstStyle/>
          <a:p>
            <a:pPr indent="0" marL="0">
              <a:buNone/>
            </a:pPr>
            <a:r>
              <a:rPr lang="en-US" sz="1100" dirty="0">
                <a:solidFill>
                  <a:srgbClr val="5BD68A"/>
                </a:solidFill>
                <a:latin typeface="Calibri" pitchFamily="34" charset="0"/>
                <a:ea typeface="Calibri" pitchFamily="34" charset="-122"/>
                <a:cs typeface="Calibri" pitchFamily="34" charset="-120"/>
              </a:rPr>
              <a:t>Use for: Multi-AZ resilience without manual placement</a:t>
            </a:r>
            <a:endParaRPr lang="en-US" sz="1100" dirty="0"/>
          </a:p>
        </p:txBody>
      </p:sp>
      <p:sp>
        <p:nvSpPr>
          <p:cNvPr id="25" name="Shape 23"/>
          <p:cNvSpPr/>
          <p:nvPr/>
        </p:nvSpPr>
        <p:spPr>
          <a:xfrm>
            <a:off x="7589520" y="1325880"/>
            <a:ext cx="4160520" cy="4937760"/>
          </a:xfrm>
          <a:prstGeom prst="roundRect">
            <a:avLst>
              <a:gd name="adj" fmla="val 2637"/>
            </a:avLst>
          </a:prstGeom>
          <a:solidFill>
            <a:srgbClr val="0B1B2E"/>
          </a:solidFill>
          <a:ln w="12700">
            <a:solidFill>
              <a:srgbClr val="333333"/>
            </a:solidFill>
            <a:prstDash val="solid"/>
          </a:ln>
        </p:spPr>
      </p:sp>
      <p:sp>
        <p:nvSpPr>
          <p:cNvPr id="26" name="Text 24"/>
          <p:cNvSpPr/>
          <p:nvPr/>
        </p:nvSpPr>
        <p:spPr>
          <a:xfrm>
            <a:off x="7818120" y="1417320"/>
            <a:ext cx="3703320" cy="320040"/>
          </a:xfrm>
          <a:prstGeom prst="rect">
            <a:avLst/>
          </a:prstGeom>
          <a:noFill/>
          <a:ln/>
        </p:spPr>
        <p:txBody>
          <a:bodyPr wrap="square" rtlCol="0" anchor="ctr"/>
          <a:lstStyle/>
          <a:p>
            <a:pPr indent="0" marL="0">
              <a:buNone/>
            </a:pPr>
            <a:r>
              <a:rPr lang="en-US" sz="1100" b="1" spc="300" kern="0" dirty="0">
                <a:solidFill>
                  <a:srgbClr val="5EA0EF"/>
                </a:solidFill>
                <a:latin typeface="Calibri" pitchFamily="34" charset="0"/>
                <a:ea typeface="Calibri" pitchFamily="34" charset="-122"/>
                <a:cs typeface="Calibri" pitchFamily="34" charset="-120"/>
              </a:rPr>
              <a:t>NodePool snippet</a:t>
            </a:r>
            <a:endParaRPr lang="en-US" sz="1100" dirty="0"/>
          </a:p>
        </p:txBody>
      </p:sp>
      <p:sp>
        <p:nvSpPr>
          <p:cNvPr id="27" name="Text 25"/>
          <p:cNvSpPr/>
          <p:nvPr/>
        </p:nvSpPr>
        <p:spPr>
          <a:xfrm>
            <a:off x="7818120" y="1783080"/>
            <a:ext cx="3703320" cy="4297680"/>
          </a:xfrm>
          <a:prstGeom prst="rect">
            <a:avLst/>
          </a:prstGeom>
          <a:noFill/>
          <a:ln/>
        </p:spPr>
        <p:txBody>
          <a:bodyPr wrap="square" lIns="0" tIns="0" rIns="0" bIns="0" rtlCol="0" anchor="t"/>
          <a:lstStyle/>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taints:</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 key: workload</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value: gpu</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effect: NoSchedule</a:t>
            </a:r>
            <a:endParaRPr lang="en-US" sz="1200" dirty="0"/>
          </a:p>
          <a:p>
            <a:pPr indent="0" marL="0">
              <a:lnSpc>
                <a:spcPct val="110000"/>
              </a:lnSpc>
              <a:buNone/>
            </a:pP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requirements:</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 key: topology.kubernetes</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.io/zone</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operator: In</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values: ["1","2","3"]</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 key: karpenter.azure.com</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/sku-family</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operator: In</a:t>
            </a:r>
            <a:endParaRPr lang="en-US" sz="1200" dirty="0"/>
          </a:p>
          <a:p>
            <a:pPr indent="0" marL="0">
              <a:lnSpc>
                <a:spcPct val="110000"/>
              </a:lnSpc>
              <a:buNone/>
            </a:pPr>
            <a:r>
              <a:rPr lang="en-US" sz="1200" dirty="0">
                <a:solidFill>
                  <a:srgbClr val="FFFFFF"/>
                </a:solidFill>
                <a:latin typeface="Consolas" pitchFamily="34" charset="0"/>
                <a:ea typeface="Consolas" pitchFamily="34" charset="-122"/>
                <a:cs typeface="Consolas" pitchFamily="34" charset="-120"/>
              </a:rPr>
              <a:t>    values: ["D","E"]</a:t>
            </a:r>
            <a:endParaRPr lang="en-US" sz="1200" dirty="0"/>
          </a:p>
        </p:txBody>
      </p:sp>
      <p:sp>
        <p:nvSpPr>
          <p:cNvPr id="28" name="Text 26"/>
          <p:cNvSpPr/>
          <p:nvPr/>
        </p:nvSpPr>
        <p:spPr>
          <a:xfrm>
            <a:off x="457200" y="6400800"/>
            <a:ext cx="11247120" cy="320040"/>
          </a:xfrm>
          <a:prstGeom prst="rect">
            <a:avLst/>
          </a:prstGeom>
          <a:noFill/>
          <a:ln/>
        </p:spPr>
        <p:txBody>
          <a:bodyPr wrap="square" rtlCol="0" anchor="ctr"/>
          <a:lstStyle/>
          <a:p>
            <a:pPr algn="ctr" indent="0" marL="0">
              <a:buNone/>
            </a:pPr>
            <a:r>
              <a:rPr lang="en-US" sz="1300" i="1" dirty="0">
                <a:solidFill>
                  <a:srgbClr val="065A82"/>
                </a:solidFill>
                <a:latin typeface="Calibri" pitchFamily="34" charset="0"/>
                <a:ea typeface="Calibri" pitchFamily="34" charset="-122"/>
                <a:cs typeface="Calibri" pitchFamily="34" charset="-120"/>
              </a:rPr>
              <a:t>Karpenter respects every standard Kubernetes scheduling primitive.</a:t>
            </a:r>
            <a:endParaRPr lang="en-US" sz="1300" dirty="0"/>
          </a:p>
        </p:txBody>
      </p:sp>
      <p:sp>
        <p:nvSpPr>
          <p:cNvPr id="29" name="Text 27"/>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30" name="Text 28"/>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7 / 14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CONCEPT #2</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What is AGC? (Application Gateway for Containers)</a:t>
            </a:r>
            <a:endParaRPr lang="en-US" sz="3000" dirty="0"/>
          </a:p>
        </p:txBody>
      </p:sp>
      <p:sp>
        <p:nvSpPr>
          <p:cNvPr id="5" name="Shape 3"/>
          <p:cNvSpPr/>
          <p:nvPr/>
        </p:nvSpPr>
        <p:spPr>
          <a:xfrm>
            <a:off x="457200" y="1280160"/>
            <a:ext cx="5577840" cy="4937760"/>
          </a:xfrm>
          <a:prstGeom prst="roundRect">
            <a:avLst>
              <a:gd name="adj" fmla="val 2222"/>
            </a:avLst>
          </a:prstGeom>
          <a:solidFill>
            <a:srgbClr val="FFFFFF"/>
          </a:solidFill>
          <a:ln w="12700">
            <a:solidFill>
              <a:srgbClr val="E1E6EE"/>
            </a:solidFill>
            <a:prstDash val="solid"/>
          </a:ln>
        </p:spPr>
      </p:sp>
      <p:sp>
        <p:nvSpPr>
          <p:cNvPr id="6" name="Text 4"/>
          <p:cNvSpPr/>
          <p:nvPr/>
        </p:nvSpPr>
        <p:spPr>
          <a:xfrm>
            <a:off x="731520" y="1417320"/>
            <a:ext cx="5029200" cy="365760"/>
          </a:xfrm>
          <a:prstGeom prst="rect">
            <a:avLst/>
          </a:prstGeom>
          <a:noFill/>
          <a:ln/>
        </p:spPr>
        <p:txBody>
          <a:bodyPr wrap="square" rtlCol="0" anchor="ctr"/>
          <a:lstStyle/>
          <a:p>
            <a:pPr indent="0" marL="0">
              <a:buNone/>
            </a:pPr>
            <a:r>
              <a:rPr lang="en-US" sz="1200" b="1" spc="300" kern="0" dirty="0">
                <a:solidFill>
                  <a:srgbClr val="7A8A9E"/>
                </a:solidFill>
                <a:latin typeface="Calibri" pitchFamily="34" charset="0"/>
                <a:ea typeface="Calibri" pitchFamily="34" charset="-122"/>
                <a:cs typeface="Calibri" pitchFamily="34" charset="-120"/>
              </a:rPr>
              <a:t>In one sentence</a:t>
            </a:r>
            <a:endParaRPr lang="en-US" sz="1200" dirty="0"/>
          </a:p>
        </p:txBody>
      </p:sp>
      <p:sp>
        <p:nvSpPr>
          <p:cNvPr id="7" name="Text 5"/>
          <p:cNvSpPr/>
          <p:nvPr/>
        </p:nvSpPr>
        <p:spPr>
          <a:xfrm>
            <a:off x="731520" y="1783080"/>
            <a:ext cx="5029200" cy="1463040"/>
          </a:xfrm>
          <a:prstGeom prst="rect">
            <a:avLst/>
          </a:prstGeom>
          <a:noFill/>
          <a:ln/>
        </p:spPr>
        <p:txBody>
          <a:bodyPr wrap="square" rtlCol="0" anchor="ctr"/>
          <a:lstStyle/>
          <a:p>
            <a:pPr indent="0" marL="0">
              <a:buNone/>
            </a:pPr>
            <a:r>
              <a:rPr lang="en-US" sz="1700" dirty="0">
                <a:solidFill>
                  <a:srgbClr val="12233A"/>
                </a:solidFill>
                <a:latin typeface="Calibri" pitchFamily="34" charset="0"/>
                <a:ea typeface="Calibri" pitchFamily="34" charset="-122"/>
                <a:cs typeface="Calibri" pitchFamily="34" charset="-120"/>
              </a:rPr>
              <a:t>Azure-native, out-of-cluster, modern application load balancer for AKS — routes new traffic to the freshest, least-busy pods, not just round-robin.</a:t>
            </a:r>
            <a:endParaRPr lang="en-US" sz="1700" dirty="0"/>
          </a:p>
        </p:txBody>
      </p:sp>
      <p:sp>
        <p:nvSpPr>
          <p:cNvPr id="8" name="Text 6"/>
          <p:cNvSpPr/>
          <p:nvPr/>
        </p:nvSpPr>
        <p:spPr>
          <a:xfrm>
            <a:off x="731520" y="3291840"/>
            <a:ext cx="5029200" cy="365760"/>
          </a:xfrm>
          <a:prstGeom prst="rect">
            <a:avLst/>
          </a:prstGeom>
          <a:noFill/>
          <a:ln/>
        </p:spPr>
        <p:txBody>
          <a:bodyPr wrap="square" rtlCol="0" anchor="ctr"/>
          <a:lstStyle/>
          <a:p>
            <a:pPr indent="0" marL="0">
              <a:buNone/>
            </a:pPr>
            <a:r>
              <a:rPr lang="en-US" sz="1300" i="1" dirty="0">
                <a:solidFill>
                  <a:srgbClr val="065A82"/>
                </a:solidFill>
                <a:latin typeface="Calibri" pitchFamily="34" charset="0"/>
                <a:ea typeface="Calibri" pitchFamily="34" charset="-122"/>
                <a:cs typeface="Calibri" pitchFamily="34" charset="-120"/>
              </a:rPr>
              <a:t>Programmed by standard Kubernetes Gateway API objects.</a:t>
            </a:r>
            <a:endParaRPr lang="en-US" sz="1300" dirty="0"/>
          </a:p>
        </p:txBody>
      </p:sp>
      <p:sp>
        <p:nvSpPr>
          <p:cNvPr id="9" name="Text 7"/>
          <p:cNvSpPr/>
          <p:nvPr/>
        </p:nvSpPr>
        <p:spPr>
          <a:xfrm>
            <a:off x="731520" y="3703320"/>
            <a:ext cx="5029200" cy="365760"/>
          </a:xfrm>
          <a:prstGeom prst="rect">
            <a:avLst/>
          </a:prstGeom>
          <a:noFill/>
          <a:ln/>
        </p:spPr>
        <p:txBody>
          <a:bodyPr wrap="square" rtlCol="0" anchor="ctr"/>
          <a:lstStyle/>
          <a:p>
            <a:pPr indent="0" marL="0">
              <a:buNone/>
            </a:pPr>
            <a:r>
              <a:rPr lang="en-US" sz="1200" b="1" spc="300" kern="0" dirty="0">
                <a:solidFill>
                  <a:srgbClr val="7A8A9E"/>
                </a:solidFill>
                <a:latin typeface="Calibri" pitchFamily="34" charset="0"/>
                <a:ea typeface="Calibri" pitchFamily="34" charset="-122"/>
                <a:cs typeface="Calibri" pitchFamily="34" charset="-120"/>
              </a:rPr>
              <a:t>Why this matters</a:t>
            </a:r>
            <a:endParaRPr lang="en-US" sz="1200" dirty="0"/>
          </a:p>
        </p:txBody>
      </p:sp>
      <p:sp>
        <p:nvSpPr>
          <p:cNvPr id="10" name="Shape 8"/>
          <p:cNvSpPr/>
          <p:nvPr/>
        </p:nvSpPr>
        <p:spPr>
          <a:xfrm>
            <a:off x="731520" y="4160520"/>
            <a:ext cx="164592" cy="164592"/>
          </a:xfrm>
          <a:prstGeom prst="ellipse">
            <a:avLst/>
          </a:prstGeom>
          <a:solidFill>
            <a:srgbClr val="5EA0EF"/>
          </a:solidFill>
          <a:ln w="12700">
            <a:solidFill>
              <a:srgbClr val="333333"/>
            </a:solidFill>
            <a:prstDash val="solid"/>
          </a:ln>
        </p:spPr>
      </p:sp>
      <p:sp>
        <p:nvSpPr>
          <p:cNvPr id="11" name="Text 9"/>
          <p:cNvSpPr/>
          <p:nvPr/>
        </p:nvSpPr>
        <p:spPr>
          <a:xfrm>
            <a:off x="1005840" y="4069080"/>
            <a:ext cx="4754880" cy="365760"/>
          </a:xfrm>
          <a:prstGeom prst="rect">
            <a:avLst/>
          </a:prstGeom>
          <a:noFill/>
          <a:ln/>
        </p:spPr>
        <p:txBody>
          <a:bodyPr wrap="square" rtlCol="0" anchor="ctr"/>
          <a:lstStyle/>
          <a:p>
            <a:pPr indent="0" marL="0">
              <a:buNone/>
            </a:pPr>
            <a:r>
              <a:rPr lang="en-US" sz="1400" dirty="0">
                <a:solidFill>
                  <a:srgbClr val="12233A"/>
                </a:solidFill>
                <a:latin typeface="Calibri" pitchFamily="34" charset="0"/>
                <a:ea typeface="Calibri" pitchFamily="34" charset="-122"/>
                <a:cs typeface="Calibri" pitchFamily="34" charset="-120"/>
              </a:rPr>
              <a:t>No portal-clicking — Gateway YAML provisions the frontend</a:t>
            </a:r>
            <a:endParaRPr lang="en-US" sz="1400" dirty="0"/>
          </a:p>
        </p:txBody>
      </p:sp>
      <p:sp>
        <p:nvSpPr>
          <p:cNvPr id="12" name="Shape 10"/>
          <p:cNvSpPr/>
          <p:nvPr/>
        </p:nvSpPr>
        <p:spPr>
          <a:xfrm>
            <a:off x="731520" y="4572000"/>
            <a:ext cx="164592" cy="164592"/>
          </a:xfrm>
          <a:prstGeom prst="ellipse">
            <a:avLst/>
          </a:prstGeom>
          <a:solidFill>
            <a:srgbClr val="5EA0EF"/>
          </a:solidFill>
          <a:ln w="12700">
            <a:solidFill>
              <a:srgbClr val="333333"/>
            </a:solidFill>
            <a:prstDash val="solid"/>
          </a:ln>
        </p:spPr>
      </p:sp>
      <p:sp>
        <p:nvSpPr>
          <p:cNvPr id="13" name="Text 11"/>
          <p:cNvSpPr/>
          <p:nvPr/>
        </p:nvSpPr>
        <p:spPr>
          <a:xfrm>
            <a:off x="1005840" y="4480560"/>
            <a:ext cx="4754880" cy="365760"/>
          </a:xfrm>
          <a:prstGeom prst="rect">
            <a:avLst/>
          </a:prstGeom>
          <a:noFill/>
          <a:ln/>
        </p:spPr>
        <p:txBody>
          <a:bodyPr wrap="square" rtlCol="0" anchor="ctr"/>
          <a:lstStyle/>
          <a:p>
            <a:pPr indent="0" marL="0">
              <a:buNone/>
            </a:pPr>
            <a:r>
              <a:rPr lang="en-US" sz="1400" dirty="0">
                <a:solidFill>
                  <a:srgbClr val="12233A"/>
                </a:solidFill>
                <a:latin typeface="Calibri" pitchFamily="34" charset="0"/>
                <a:ea typeface="Calibri" pitchFamily="34" charset="-122"/>
                <a:cs typeface="Calibri" pitchFamily="34" charset="-120"/>
              </a:rPr>
              <a:t>Load-aware: warm pods keep serving, new pods absorb spikes</a:t>
            </a:r>
            <a:endParaRPr lang="en-US" sz="1400" dirty="0"/>
          </a:p>
        </p:txBody>
      </p:sp>
      <p:sp>
        <p:nvSpPr>
          <p:cNvPr id="14" name="Shape 12"/>
          <p:cNvSpPr/>
          <p:nvPr/>
        </p:nvSpPr>
        <p:spPr>
          <a:xfrm>
            <a:off x="731520" y="4983480"/>
            <a:ext cx="164592" cy="164592"/>
          </a:xfrm>
          <a:prstGeom prst="ellipse">
            <a:avLst/>
          </a:prstGeom>
          <a:solidFill>
            <a:srgbClr val="5EA0EF"/>
          </a:solidFill>
          <a:ln w="12700">
            <a:solidFill>
              <a:srgbClr val="333333"/>
            </a:solidFill>
            <a:prstDash val="solid"/>
          </a:ln>
        </p:spPr>
      </p:sp>
      <p:sp>
        <p:nvSpPr>
          <p:cNvPr id="15" name="Text 13"/>
          <p:cNvSpPr/>
          <p:nvPr/>
        </p:nvSpPr>
        <p:spPr>
          <a:xfrm>
            <a:off x="1005840" y="4892040"/>
            <a:ext cx="4754880" cy="365760"/>
          </a:xfrm>
          <a:prstGeom prst="rect">
            <a:avLst/>
          </a:prstGeom>
          <a:noFill/>
          <a:ln/>
        </p:spPr>
        <p:txBody>
          <a:bodyPr wrap="square" rtlCol="0" anchor="ctr"/>
          <a:lstStyle/>
          <a:p>
            <a:pPr indent="0" marL="0">
              <a:buNone/>
            </a:pPr>
            <a:r>
              <a:rPr lang="en-US" sz="1400" dirty="0">
                <a:solidFill>
                  <a:srgbClr val="12233A"/>
                </a:solidFill>
                <a:latin typeface="Calibri" pitchFamily="34" charset="0"/>
                <a:ea typeface="Calibri" pitchFamily="34" charset="-122"/>
                <a:cs typeface="Calibri" pitchFamily="34" charset="-120"/>
              </a:rPr>
              <a:t>Health-aware: failing pods leave rotation automatically</a:t>
            </a:r>
            <a:endParaRPr lang="en-US" sz="1400" dirty="0"/>
          </a:p>
        </p:txBody>
      </p:sp>
      <p:sp>
        <p:nvSpPr>
          <p:cNvPr id="16" name="Shape 14"/>
          <p:cNvSpPr/>
          <p:nvPr/>
        </p:nvSpPr>
        <p:spPr>
          <a:xfrm>
            <a:off x="731520" y="5394960"/>
            <a:ext cx="164592" cy="164592"/>
          </a:xfrm>
          <a:prstGeom prst="ellipse">
            <a:avLst/>
          </a:prstGeom>
          <a:solidFill>
            <a:srgbClr val="5EA0EF"/>
          </a:solidFill>
          <a:ln w="12700">
            <a:solidFill>
              <a:srgbClr val="333333"/>
            </a:solidFill>
            <a:prstDash val="solid"/>
          </a:ln>
        </p:spPr>
      </p:sp>
      <p:sp>
        <p:nvSpPr>
          <p:cNvPr id="17" name="Text 15"/>
          <p:cNvSpPr/>
          <p:nvPr/>
        </p:nvSpPr>
        <p:spPr>
          <a:xfrm>
            <a:off x="1005840" y="5303520"/>
            <a:ext cx="4754880" cy="365760"/>
          </a:xfrm>
          <a:prstGeom prst="rect">
            <a:avLst/>
          </a:prstGeom>
          <a:noFill/>
          <a:ln/>
        </p:spPr>
        <p:txBody>
          <a:bodyPr wrap="square" rtlCol="0" anchor="ctr"/>
          <a:lstStyle/>
          <a:p>
            <a:pPr indent="0" marL="0">
              <a:buNone/>
            </a:pPr>
            <a:r>
              <a:rPr lang="en-US" sz="1400" dirty="0">
                <a:solidFill>
                  <a:srgbClr val="12233A"/>
                </a:solidFill>
                <a:latin typeface="Calibri" pitchFamily="34" charset="0"/>
                <a:ea typeface="Calibri" pitchFamily="34" charset="-122"/>
                <a:cs typeface="Calibri" pitchFamily="34" charset="-120"/>
              </a:rPr>
              <a:t>Plays cleanly with NAP-provisioned nodes</a:t>
            </a:r>
            <a:endParaRPr lang="en-US" sz="1400" dirty="0"/>
          </a:p>
        </p:txBody>
      </p:sp>
      <p:sp>
        <p:nvSpPr>
          <p:cNvPr id="18" name="Shape 16"/>
          <p:cNvSpPr/>
          <p:nvPr/>
        </p:nvSpPr>
        <p:spPr>
          <a:xfrm>
            <a:off x="6263640" y="1280160"/>
            <a:ext cx="5486400" cy="4937760"/>
          </a:xfrm>
          <a:prstGeom prst="roundRect">
            <a:avLst>
              <a:gd name="adj" fmla="val 2222"/>
            </a:avLst>
          </a:prstGeom>
          <a:solidFill>
            <a:srgbClr val="0B1B2E"/>
          </a:solidFill>
          <a:ln w="12700">
            <a:solidFill>
              <a:srgbClr val="333333"/>
            </a:solidFill>
            <a:prstDash val="solid"/>
          </a:ln>
        </p:spPr>
      </p:sp>
      <p:sp>
        <p:nvSpPr>
          <p:cNvPr id="19" name="Text 17"/>
          <p:cNvSpPr/>
          <p:nvPr/>
        </p:nvSpPr>
        <p:spPr>
          <a:xfrm>
            <a:off x="6537960" y="1417320"/>
            <a:ext cx="4937760" cy="365760"/>
          </a:xfrm>
          <a:prstGeom prst="rect">
            <a:avLst/>
          </a:prstGeom>
          <a:noFill/>
          <a:ln/>
        </p:spPr>
        <p:txBody>
          <a:bodyPr wrap="square" rtlCol="0" anchor="ctr"/>
          <a:lstStyle/>
          <a:p>
            <a:pPr indent="0" marL="0">
              <a:buNone/>
            </a:pPr>
            <a:r>
              <a:rPr lang="en-US" sz="1200" b="1" spc="300" kern="0" dirty="0">
                <a:solidFill>
                  <a:srgbClr val="5EA0EF"/>
                </a:solidFill>
                <a:latin typeface="Calibri" pitchFamily="34" charset="0"/>
                <a:ea typeface="Calibri" pitchFamily="34" charset="-122"/>
                <a:cs typeface="Calibri" pitchFamily="34" charset="-120"/>
              </a:rPr>
              <a:t>Round-robin vs load-aware</a:t>
            </a:r>
            <a:endParaRPr lang="en-US" sz="1200" dirty="0"/>
          </a:p>
        </p:txBody>
      </p:sp>
      <p:sp>
        <p:nvSpPr>
          <p:cNvPr id="20" name="Text 18"/>
          <p:cNvSpPr/>
          <p:nvPr/>
        </p:nvSpPr>
        <p:spPr>
          <a:xfrm>
            <a:off x="6537960" y="1874520"/>
            <a:ext cx="49377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Round-robin LB</a:t>
            </a:r>
            <a:endParaRPr lang="en-US" sz="1400" dirty="0"/>
          </a:p>
        </p:txBody>
      </p:sp>
      <p:sp>
        <p:nvSpPr>
          <p:cNvPr id="21" name="Shape 19"/>
          <p:cNvSpPr/>
          <p:nvPr/>
        </p:nvSpPr>
        <p:spPr>
          <a:xfrm>
            <a:off x="6537960" y="2286000"/>
            <a:ext cx="1097280" cy="502920"/>
          </a:xfrm>
          <a:prstGeom prst="roundRect">
            <a:avLst>
              <a:gd name="adj" fmla="val 14545"/>
            </a:avLst>
          </a:prstGeom>
          <a:solidFill>
            <a:srgbClr val="FF5A4A"/>
          </a:solidFill>
          <a:ln w="12700">
            <a:solidFill>
              <a:srgbClr val="333333"/>
            </a:solidFill>
            <a:prstDash val="solid"/>
          </a:ln>
        </p:spPr>
      </p:sp>
      <p:sp>
        <p:nvSpPr>
          <p:cNvPr id="22" name="Text 20"/>
          <p:cNvSpPr/>
          <p:nvPr/>
        </p:nvSpPr>
        <p:spPr>
          <a:xfrm>
            <a:off x="6537960" y="2286000"/>
            <a:ext cx="109728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a:t>
            </a:r>
            <a:endParaRPr lang="en-US" sz="1300" dirty="0"/>
          </a:p>
        </p:txBody>
      </p:sp>
      <p:sp>
        <p:nvSpPr>
          <p:cNvPr id="23" name="Shape 21"/>
          <p:cNvSpPr/>
          <p:nvPr/>
        </p:nvSpPr>
        <p:spPr>
          <a:xfrm>
            <a:off x="7772400" y="2286000"/>
            <a:ext cx="1097280" cy="502920"/>
          </a:xfrm>
          <a:prstGeom prst="roundRect">
            <a:avLst>
              <a:gd name="adj" fmla="val 14545"/>
            </a:avLst>
          </a:prstGeom>
          <a:solidFill>
            <a:srgbClr val="FF5A4A"/>
          </a:solidFill>
          <a:ln w="12700">
            <a:solidFill>
              <a:srgbClr val="333333"/>
            </a:solidFill>
            <a:prstDash val="solid"/>
          </a:ln>
        </p:spPr>
      </p:sp>
      <p:sp>
        <p:nvSpPr>
          <p:cNvPr id="24" name="Text 22"/>
          <p:cNvSpPr/>
          <p:nvPr/>
        </p:nvSpPr>
        <p:spPr>
          <a:xfrm>
            <a:off x="7772400" y="2286000"/>
            <a:ext cx="109728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a:t>
            </a:r>
            <a:endParaRPr lang="en-US" sz="1300" dirty="0"/>
          </a:p>
        </p:txBody>
      </p:sp>
      <p:sp>
        <p:nvSpPr>
          <p:cNvPr id="25" name="Shape 23"/>
          <p:cNvSpPr/>
          <p:nvPr/>
        </p:nvSpPr>
        <p:spPr>
          <a:xfrm>
            <a:off x="9006840" y="2286000"/>
            <a:ext cx="1097280" cy="502920"/>
          </a:xfrm>
          <a:prstGeom prst="roundRect">
            <a:avLst>
              <a:gd name="adj" fmla="val 14545"/>
            </a:avLst>
          </a:prstGeom>
          <a:solidFill>
            <a:srgbClr val="FF5A4A"/>
          </a:solidFill>
          <a:ln w="12700">
            <a:solidFill>
              <a:srgbClr val="333333"/>
            </a:solidFill>
            <a:prstDash val="solid"/>
          </a:ln>
        </p:spPr>
      </p:sp>
      <p:sp>
        <p:nvSpPr>
          <p:cNvPr id="26" name="Text 24"/>
          <p:cNvSpPr/>
          <p:nvPr/>
        </p:nvSpPr>
        <p:spPr>
          <a:xfrm>
            <a:off x="9006840" y="2286000"/>
            <a:ext cx="109728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a:t>
            </a:r>
            <a:endParaRPr lang="en-US" sz="1300" dirty="0"/>
          </a:p>
        </p:txBody>
      </p:sp>
      <p:sp>
        <p:nvSpPr>
          <p:cNvPr id="27" name="Shape 25"/>
          <p:cNvSpPr/>
          <p:nvPr/>
        </p:nvSpPr>
        <p:spPr>
          <a:xfrm>
            <a:off x="10241280" y="2286000"/>
            <a:ext cx="1097280" cy="502920"/>
          </a:xfrm>
          <a:prstGeom prst="roundRect">
            <a:avLst>
              <a:gd name="adj" fmla="val 14545"/>
            </a:avLst>
          </a:prstGeom>
          <a:solidFill>
            <a:srgbClr val="FF5A4A"/>
          </a:solidFill>
          <a:ln w="12700">
            <a:solidFill>
              <a:srgbClr val="333333"/>
            </a:solidFill>
            <a:prstDash val="solid"/>
          </a:ln>
        </p:spPr>
      </p:sp>
      <p:sp>
        <p:nvSpPr>
          <p:cNvPr id="28" name="Text 26"/>
          <p:cNvSpPr/>
          <p:nvPr/>
        </p:nvSpPr>
        <p:spPr>
          <a:xfrm>
            <a:off x="10241280" y="2286000"/>
            <a:ext cx="109728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a:t>
            </a:r>
            <a:endParaRPr lang="en-US" sz="1300" dirty="0"/>
          </a:p>
        </p:txBody>
      </p:sp>
      <p:sp>
        <p:nvSpPr>
          <p:cNvPr id="29" name="Text 27"/>
          <p:cNvSpPr/>
          <p:nvPr/>
        </p:nvSpPr>
        <p:spPr>
          <a:xfrm>
            <a:off x="6537960" y="2880360"/>
            <a:ext cx="4937760" cy="365760"/>
          </a:xfrm>
          <a:prstGeom prst="rect">
            <a:avLst/>
          </a:prstGeom>
          <a:noFill/>
          <a:ln/>
        </p:spPr>
        <p:txBody>
          <a:bodyPr wrap="square" rtlCol="0" anchor="ctr"/>
          <a:lstStyle/>
          <a:p>
            <a:pPr indent="0" marL="0">
              <a:buNone/>
            </a:pPr>
            <a:r>
              <a:rPr lang="en-US" sz="1100" i="1" dirty="0">
                <a:solidFill>
                  <a:srgbClr val="CADCFC"/>
                </a:solidFill>
                <a:latin typeface="Calibri" pitchFamily="34" charset="0"/>
                <a:ea typeface="Calibri" pitchFamily="34" charset="-122"/>
                <a:cs typeface="Calibri" pitchFamily="34" charset="-120"/>
              </a:rPr>
              <a:t>All pods take equal share — warm pods saturate, errors creep in.</a:t>
            </a:r>
            <a:endParaRPr lang="en-US" sz="1100" dirty="0"/>
          </a:p>
        </p:txBody>
      </p:sp>
      <p:sp>
        <p:nvSpPr>
          <p:cNvPr id="30" name="Text 28"/>
          <p:cNvSpPr/>
          <p:nvPr/>
        </p:nvSpPr>
        <p:spPr>
          <a:xfrm>
            <a:off x="6537960" y="3520440"/>
            <a:ext cx="4937760" cy="365760"/>
          </a:xfrm>
          <a:prstGeom prst="rect">
            <a:avLst/>
          </a:prstGeom>
          <a:noFill/>
          <a:ln/>
        </p:spPr>
        <p:txBody>
          <a:bodyPr wrap="square" rtlCol="0" anchor="ctr"/>
          <a:lstStyle/>
          <a:p>
            <a:pPr indent="0" marL="0">
              <a:buNone/>
            </a:pPr>
            <a:r>
              <a:rPr lang="en-US" sz="1400" b="1" dirty="0">
                <a:solidFill>
                  <a:srgbClr val="5BD68A"/>
                </a:solidFill>
                <a:latin typeface="Calibri" pitchFamily="34" charset="0"/>
                <a:ea typeface="Calibri" pitchFamily="34" charset="-122"/>
                <a:cs typeface="Calibri" pitchFamily="34" charset="-120"/>
              </a:rPr>
              <a:t>AGC (load-aware)</a:t>
            </a:r>
            <a:endParaRPr lang="en-US" sz="1400" dirty="0"/>
          </a:p>
        </p:txBody>
      </p:sp>
      <p:sp>
        <p:nvSpPr>
          <p:cNvPr id="31" name="Shape 29"/>
          <p:cNvSpPr/>
          <p:nvPr/>
        </p:nvSpPr>
        <p:spPr>
          <a:xfrm>
            <a:off x="6537960" y="3931920"/>
            <a:ext cx="1097280" cy="502920"/>
          </a:xfrm>
          <a:prstGeom prst="roundRect">
            <a:avLst>
              <a:gd name="adj" fmla="val 14545"/>
            </a:avLst>
          </a:prstGeom>
          <a:solidFill>
            <a:srgbClr val="FF5A4A"/>
          </a:solidFill>
          <a:ln w="12700">
            <a:solidFill>
              <a:srgbClr val="333333"/>
            </a:solidFill>
            <a:prstDash val="solid"/>
          </a:ln>
        </p:spPr>
      </p:sp>
      <p:sp>
        <p:nvSpPr>
          <p:cNvPr id="32" name="Text 30"/>
          <p:cNvSpPr/>
          <p:nvPr/>
        </p:nvSpPr>
        <p:spPr>
          <a:xfrm>
            <a:off x="6537960" y="3931920"/>
            <a:ext cx="109728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33" name="Shape 31"/>
          <p:cNvSpPr/>
          <p:nvPr/>
        </p:nvSpPr>
        <p:spPr>
          <a:xfrm>
            <a:off x="7772400" y="3931920"/>
            <a:ext cx="1097280" cy="502920"/>
          </a:xfrm>
          <a:prstGeom prst="roundRect">
            <a:avLst>
              <a:gd name="adj" fmla="val 14545"/>
            </a:avLst>
          </a:prstGeom>
          <a:solidFill>
            <a:srgbClr val="E8893D"/>
          </a:solidFill>
          <a:ln w="12700">
            <a:solidFill>
              <a:srgbClr val="333333"/>
            </a:solidFill>
            <a:prstDash val="solid"/>
          </a:ln>
        </p:spPr>
      </p:sp>
      <p:sp>
        <p:nvSpPr>
          <p:cNvPr id="34" name="Text 32"/>
          <p:cNvSpPr/>
          <p:nvPr/>
        </p:nvSpPr>
        <p:spPr>
          <a:xfrm>
            <a:off x="7772400" y="3931920"/>
            <a:ext cx="109728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35" name="Shape 33"/>
          <p:cNvSpPr/>
          <p:nvPr/>
        </p:nvSpPr>
        <p:spPr>
          <a:xfrm>
            <a:off x="9006840" y="3931920"/>
            <a:ext cx="1097280" cy="502920"/>
          </a:xfrm>
          <a:prstGeom prst="roundRect">
            <a:avLst>
              <a:gd name="adj" fmla="val 14545"/>
            </a:avLst>
          </a:prstGeom>
          <a:solidFill>
            <a:srgbClr val="5BD68A"/>
          </a:solidFill>
          <a:ln w="12700">
            <a:solidFill>
              <a:srgbClr val="333333"/>
            </a:solidFill>
            <a:prstDash val="solid"/>
          </a:ln>
        </p:spPr>
      </p:sp>
      <p:sp>
        <p:nvSpPr>
          <p:cNvPr id="36" name="Text 34"/>
          <p:cNvSpPr/>
          <p:nvPr/>
        </p:nvSpPr>
        <p:spPr>
          <a:xfrm>
            <a:off x="9006840" y="3931920"/>
            <a:ext cx="109728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35%</a:t>
            </a:r>
            <a:endParaRPr lang="en-US" sz="1300" dirty="0"/>
          </a:p>
        </p:txBody>
      </p:sp>
      <p:sp>
        <p:nvSpPr>
          <p:cNvPr id="37" name="Shape 35"/>
          <p:cNvSpPr/>
          <p:nvPr/>
        </p:nvSpPr>
        <p:spPr>
          <a:xfrm>
            <a:off x="10241280" y="3931920"/>
            <a:ext cx="1097280" cy="502920"/>
          </a:xfrm>
          <a:prstGeom prst="roundRect">
            <a:avLst>
              <a:gd name="adj" fmla="val 14545"/>
            </a:avLst>
          </a:prstGeom>
          <a:solidFill>
            <a:srgbClr val="5BD68A"/>
          </a:solidFill>
          <a:ln w="12700">
            <a:solidFill>
              <a:srgbClr val="333333"/>
            </a:solidFill>
            <a:prstDash val="solid"/>
          </a:ln>
        </p:spPr>
      </p:sp>
      <p:sp>
        <p:nvSpPr>
          <p:cNvPr id="38" name="Text 36"/>
          <p:cNvSpPr/>
          <p:nvPr/>
        </p:nvSpPr>
        <p:spPr>
          <a:xfrm>
            <a:off x="10241280" y="3931920"/>
            <a:ext cx="109728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40%</a:t>
            </a:r>
            <a:endParaRPr lang="en-US" sz="1300" dirty="0"/>
          </a:p>
        </p:txBody>
      </p:sp>
      <p:sp>
        <p:nvSpPr>
          <p:cNvPr id="39" name="Text 37"/>
          <p:cNvSpPr/>
          <p:nvPr/>
        </p:nvSpPr>
        <p:spPr>
          <a:xfrm>
            <a:off x="6537960" y="4526280"/>
            <a:ext cx="4937760" cy="365760"/>
          </a:xfrm>
          <a:prstGeom prst="rect">
            <a:avLst/>
          </a:prstGeom>
          <a:noFill/>
          <a:ln/>
        </p:spPr>
        <p:txBody>
          <a:bodyPr wrap="square" rtlCol="0" anchor="ctr"/>
          <a:lstStyle/>
          <a:p>
            <a:pPr indent="0" marL="0">
              <a:buNone/>
            </a:pPr>
            <a:r>
              <a:rPr lang="en-US" sz="1100" i="1" dirty="0">
                <a:solidFill>
                  <a:srgbClr val="CADCFC"/>
                </a:solidFill>
                <a:latin typeface="Calibri" pitchFamily="34" charset="0"/>
                <a:ea typeface="Calibri" pitchFamily="34" charset="-122"/>
                <a:cs typeface="Calibri" pitchFamily="34" charset="-120"/>
              </a:rPr>
              <a:t>Cool pods absorb the spike. Hot pods keep serving steady traffic.</a:t>
            </a:r>
            <a:endParaRPr lang="en-US" sz="1100" dirty="0"/>
          </a:p>
        </p:txBody>
      </p:sp>
      <p:sp>
        <p:nvSpPr>
          <p:cNvPr id="40" name="Text 38"/>
          <p:cNvSpPr/>
          <p:nvPr/>
        </p:nvSpPr>
        <p:spPr>
          <a:xfrm>
            <a:off x="6537960" y="5349240"/>
            <a:ext cx="4937760" cy="7315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Result: fewer 5xx errors during burst, faster recovery, no manual reconfig.</a:t>
            </a:r>
            <a:endParaRPr lang="en-US" sz="1300" dirty="0"/>
          </a:p>
        </p:txBody>
      </p:sp>
      <p:sp>
        <p:nvSpPr>
          <p:cNvPr id="41" name="Text 39"/>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42" name="Text 40"/>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8 / 14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AGC INSIDE THE CLUSTER</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Inference Gateway — load-aware routing for AI/ML &amp; beyond</a:t>
            </a:r>
            <a:endParaRPr lang="en-US" sz="3000" dirty="0"/>
          </a:p>
        </p:txBody>
      </p:sp>
      <p:sp>
        <p:nvSpPr>
          <p:cNvPr id="5" name="Shape 3"/>
          <p:cNvSpPr/>
          <p:nvPr/>
        </p:nvSpPr>
        <p:spPr>
          <a:xfrm>
            <a:off x="777240" y="1097280"/>
            <a:ext cx="1554480" cy="384048"/>
          </a:xfrm>
          <a:prstGeom prst="roundRect">
            <a:avLst>
              <a:gd name="adj" fmla="val 50000"/>
            </a:avLst>
          </a:prstGeom>
          <a:solidFill>
            <a:srgbClr val="A78BFA"/>
          </a:solidFill>
          <a:ln w="12700">
            <a:solidFill>
              <a:srgbClr val="333333"/>
            </a:solidFill>
            <a:prstDash val="solid"/>
          </a:ln>
        </p:spPr>
      </p:sp>
      <p:sp>
        <p:nvSpPr>
          <p:cNvPr id="6" name="Text 4"/>
          <p:cNvSpPr/>
          <p:nvPr/>
        </p:nvSpPr>
        <p:spPr>
          <a:xfrm>
            <a:off x="777240" y="1097280"/>
            <a:ext cx="15544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Private Preview</a:t>
            </a:r>
            <a:endParaRPr lang="en-US" sz="1200" dirty="0"/>
          </a:p>
        </p:txBody>
      </p:sp>
      <p:sp>
        <p:nvSpPr>
          <p:cNvPr id="7" name="Shape 5"/>
          <p:cNvSpPr/>
          <p:nvPr/>
        </p:nvSpPr>
        <p:spPr>
          <a:xfrm>
            <a:off x="457200" y="1691640"/>
            <a:ext cx="6400800" cy="4572000"/>
          </a:xfrm>
          <a:prstGeom prst="roundRect">
            <a:avLst>
              <a:gd name="adj" fmla="val 2400"/>
            </a:avLst>
          </a:prstGeom>
          <a:solidFill>
            <a:srgbClr val="0B1B2E"/>
          </a:solidFill>
          <a:ln w="12700">
            <a:solidFill>
              <a:srgbClr val="333333"/>
            </a:solidFill>
            <a:prstDash val="solid"/>
          </a:ln>
        </p:spPr>
      </p:sp>
      <p:sp>
        <p:nvSpPr>
          <p:cNvPr id="8" name="Text 6"/>
          <p:cNvSpPr/>
          <p:nvPr/>
        </p:nvSpPr>
        <p:spPr>
          <a:xfrm>
            <a:off x="731520" y="1783080"/>
            <a:ext cx="5852160" cy="365760"/>
          </a:xfrm>
          <a:prstGeom prst="rect">
            <a:avLst/>
          </a:prstGeom>
          <a:noFill/>
          <a:ln/>
        </p:spPr>
        <p:txBody>
          <a:bodyPr wrap="square" rtlCol="0" anchor="ctr"/>
          <a:lstStyle/>
          <a:p>
            <a:pPr indent="0" marL="0">
              <a:buNone/>
            </a:pPr>
            <a:r>
              <a:rPr lang="en-US" sz="1200" b="1" spc="200" kern="0" dirty="0">
                <a:solidFill>
                  <a:srgbClr val="5EA0EF"/>
                </a:solidFill>
                <a:latin typeface="Calibri" pitchFamily="34" charset="0"/>
                <a:ea typeface="Calibri" pitchFamily="34" charset="-122"/>
                <a:cs typeface="Calibri" pitchFamily="34" charset="-120"/>
              </a:rPr>
              <a:t>Routes traffic by live pod metrics — CPU · Memory · GPU</a:t>
            </a:r>
            <a:endParaRPr lang="en-US" sz="1200" dirty="0"/>
          </a:p>
        </p:txBody>
      </p:sp>
      <p:sp>
        <p:nvSpPr>
          <p:cNvPr id="9" name="Shape 7"/>
          <p:cNvSpPr/>
          <p:nvPr/>
        </p:nvSpPr>
        <p:spPr>
          <a:xfrm>
            <a:off x="3154680" y="2286000"/>
            <a:ext cx="1005840" cy="640080"/>
          </a:xfrm>
          <a:prstGeom prst="hexagon">
            <a:avLst/>
          </a:prstGeom>
          <a:solidFill>
            <a:srgbClr val="065A82"/>
          </a:solidFill>
          <a:ln w="25400">
            <a:solidFill>
              <a:srgbClr val="5EA0EF"/>
            </a:solidFill>
            <a:prstDash val="solid"/>
          </a:ln>
        </p:spPr>
      </p:sp>
      <p:sp>
        <p:nvSpPr>
          <p:cNvPr id="10" name="Text 8"/>
          <p:cNvSpPr/>
          <p:nvPr/>
        </p:nvSpPr>
        <p:spPr>
          <a:xfrm>
            <a:off x="3154680" y="2286000"/>
            <a:ext cx="100584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AGC</a:t>
            </a:r>
            <a:endParaRPr lang="en-US" sz="1400" dirty="0"/>
          </a:p>
        </p:txBody>
      </p:sp>
      <p:sp>
        <p:nvSpPr>
          <p:cNvPr id="11" name="Shape 9"/>
          <p:cNvSpPr/>
          <p:nvPr/>
        </p:nvSpPr>
        <p:spPr>
          <a:xfrm>
            <a:off x="1371600" y="4206240"/>
            <a:ext cx="1280160" cy="685800"/>
          </a:xfrm>
          <a:prstGeom prst="roundRect">
            <a:avLst>
              <a:gd name="adj" fmla="val 13333"/>
            </a:avLst>
          </a:prstGeom>
          <a:solidFill>
            <a:srgbClr val="5BD68A"/>
          </a:solidFill>
          <a:ln w="12700">
            <a:solidFill>
              <a:srgbClr val="333333"/>
            </a:solidFill>
            <a:prstDash val="solid"/>
          </a:ln>
        </p:spPr>
      </p:sp>
      <p:sp>
        <p:nvSpPr>
          <p:cNvPr id="12" name="Text 10"/>
          <p:cNvSpPr/>
          <p:nvPr/>
        </p:nvSpPr>
        <p:spPr>
          <a:xfrm>
            <a:off x="1371600" y="4251960"/>
            <a:ext cx="12801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Pod A</a:t>
            </a:r>
            <a:endParaRPr lang="en-US" sz="1400" dirty="0"/>
          </a:p>
        </p:txBody>
      </p:sp>
      <p:sp>
        <p:nvSpPr>
          <p:cNvPr id="13" name="Text 11"/>
          <p:cNvSpPr/>
          <p:nvPr/>
        </p:nvSpPr>
        <p:spPr>
          <a:xfrm>
            <a:off x="1371600" y="4572000"/>
            <a:ext cx="1280160" cy="292608"/>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0% GPU</a:t>
            </a:r>
            <a:endParaRPr lang="en-US" sz="1100" dirty="0"/>
          </a:p>
        </p:txBody>
      </p:sp>
      <p:sp>
        <p:nvSpPr>
          <p:cNvPr id="14" name="Shape 12"/>
          <p:cNvSpPr/>
          <p:nvPr/>
        </p:nvSpPr>
        <p:spPr>
          <a:xfrm>
            <a:off x="3063240" y="4206240"/>
            <a:ext cx="1280160" cy="685800"/>
          </a:xfrm>
          <a:prstGeom prst="roundRect">
            <a:avLst>
              <a:gd name="adj" fmla="val 13333"/>
            </a:avLst>
          </a:prstGeom>
          <a:solidFill>
            <a:srgbClr val="5EA0EF"/>
          </a:solidFill>
          <a:ln w="12700">
            <a:solidFill>
              <a:srgbClr val="333333"/>
            </a:solidFill>
            <a:prstDash val="solid"/>
          </a:ln>
        </p:spPr>
      </p:sp>
      <p:sp>
        <p:nvSpPr>
          <p:cNvPr id="15" name="Text 13"/>
          <p:cNvSpPr/>
          <p:nvPr/>
        </p:nvSpPr>
        <p:spPr>
          <a:xfrm>
            <a:off x="3063240" y="4251960"/>
            <a:ext cx="12801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Pod B</a:t>
            </a:r>
            <a:endParaRPr lang="en-US" sz="1400" dirty="0"/>
          </a:p>
        </p:txBody>
      </p:sp>
      <p:sp>
        <p:nvSpPr>
          <p:cNvPr id="16" name="Text 14"/>
          <p:cNvSpPr/>
          <p:nvPr/>
        </p:nvSpPr>
        <p:spPr>
          <a:xfrm>
            <a:off x="3063240" y="4572000"/>
            <a:ext cx="1280160" cy="292608"/>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25% GPU</a:t>
            </a:r>
            <a:endParaRPr lang="en-US" sz="1100" dirty="0"/>
          </a:p>
        </p:txBody>
      </p:sp>
      <p:sp>
        <p:nvSpPr>
          <p:cNvPr id="17" name="Shape 15"/>
          <p:cNvSpPr/>
          <p:nvPr/>
        </p:nvSpPr>
        <p:spPr>
          <a:xfrm>
            <a:off x="4754880" y="4206240"/>
            <a:ext cx="1280160" cy="685800"/>
          </a:xfrm>
          <a:prstGeom prst="roundRect">
            <a:avLst>
              <a:gd name="adj" fmla="val 13333"/>
            </a:avLst>
          </a:prstGeom>
          <a:solidFill>
            <a:srgbClr val="FF5A4A"/>
          </a:solidFill>
          <a:ln w="12700">
            <a:solidFill>
              <a:srgbClr val="333333"/>
            </a:solidFill>
            <a:prstDash val="solid"/>
          </a:ln>
        </p:spPr>
      </p:sp>
      <p:sp>
        <p:nvSpPr>
          <p:cNvPr id="18" name="Text 16"/>
          <p:cNvSpPr/>
          <p:nvPr/>
        </p:nvSpPr>
        <p:spPr>
          <a:xfrm>
            <a:off x="4754880" y="4251960"/>
            <a:ext cx="12801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Pod C</a:t>
            </a:r>
            <a:endParaRPr lang="en-US" sz="1400" dirty="0"/>
          </a:p>
        </p:txBody>
      </p:sp>
      <p:sp>
        <p:nvSpPr>
          <p:cNvPr id="19" name="Text 17"/>
          <p:cNvSpPr/>
          <p:nvPr/>
        </p:nvSpPr>
        <p:spPr>
          <a:xfrm>
            <a:off x="4754880" y="4572000"/>
            <a:ext cx="1280160" cy="292608"/>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50% GPU</a:t>
            </a:r>
            <a:endParaRPr lang="en-US" sz="1100" dirty="0"/>
          </a:p>
        </p:txBody>
      </p:sp>
      <p:sp>
        <p:nvSpPr>
          <p:cNvPr id="20" name="Shape 18"/>
          <p:cNvSpPr/>
          <p:nvPr/>
        </p:nvSpPr>
        <p:spPr>
          <a:xfrm flipH="1">
            <a:off x="2011680" y="2971800"/>
            <a:ext cx="1645920" cy="1234440"/>
          </a:xfrm>
          <a:prstGeom prst="line">
            <a:avLst/>
          </a:prstGeom>
          <a:noFill/>
          <a:ln w="101600">
            <a:solidFill>
              <a:srgbClr val="5BD68A"/>
            </a:solidFill>
            <a:prstDash val="solid"/>
          </a:ln>
        </p:spPr>
      </p:sp>
      <p:sp>
        <p:nvSpPr>
          <p:cNvPr id="21" name="Shape 19"/>
          <p:cNvSpPr/>
          <p:nvPr/>
        </p:nvSpPr>
        <p:spPr>
          <a:xfrm>
            <a:off x="1892808" y="4041648"/>
            <a:ext cx="237744" cy="201168"/>
          </a:xfrm>
          <a:prstGeom prst="triangle">
            <a:avLst/>
          </a:prstGeom>
          <a:solidFill>
            <a:srgbClr val="5BD68A"/>
          </a:solidFill>
          <a:ln w="12700">
            <a:solidFill>
              <a:srgbClr val="333333"/>
            </a:solidFill>
            <a:prstDash val="solid"/>
          </a:ln>
        </p:spPr>
      </p:sp>
      <p:sp>
        <p:nvSpPr>
          <p:cNvPr id="22" name="Shape 20"/>
          <p:cNvSpPr/>
          <p:nvPr/>
        </p:nvSpPr>
        <p:spPr>
          <a:xfrm>
            <a:off x="3657600" y="2971800"/>
            <a:ext cx="45720" cy="1234440"/>
          </a:xfrm>
          <a:prstGeom prst="line">
            <a:avLst/>
          </a:prstGeom>
          <a:noFill/>
          <a:ln w="50800">
            <a:solidFill>
              <a:srgbClr val="5EA0EF"/>
            </a:solidFill>
            <a:prstDash val="solid"/>
          </a:ln>
        </p:spPr>
      </p:sp>
      <p:sp>
        <p:nvSpPr>
          <p:cNvPr id="23" name="Shape 21"/>
          <p:cNvSpPr/>
          <p:nvPr/>
        </p:nvSpPr>
        <p:spPr>
          <a:xfrm>
            <a:off x="3584448" y="4041648"/>
            <a:ext cx="237744" cy="201168"/>
          </a:xfrm>
          <a:prstGeom prst="triangle">
            <a:avLst/>
          </a:prstGeom>
          <a:solidFill>
            <a:srgbClr val="5EA0EF"/>
          </a:solidFill>
          <a:ln w="12700">
            <a:solidFill>
              <a:srgbClr val="333333"/>
            </a:solidFill>
            <a:prstDash val="solid"/>
          </a:ln>
        </p:spPr>
      </p:sp>
      <p:sp>
        <p:nvSpPr>
          <p:cNvPr id="24" name="Shape 22"/>
          <p:cNvSpPr/>
          <p:nvPr/>
        </p:nvSpPr>
        <p:spPr>
          <a:xfrm>
            <a:off x="3657600" y="2971800"/>
            <a:ext cx="1737360" cy="1234440"/>
          </a:xfrm>
          <a:prstGeom prst="line">
            <a:avLst/>
          </a:prstGeom>
          <a:noFill/>
          <a:ln w="19050">
            <a:solidFill>
              <a:srgbClr val="FF5A4A"/>
            </a:solidFill>
            <a:prstDash val="solid"/>
          </a:ln>
        </p:spPr>
      </p:sp>
      <p:sp>
        <p:nvSpPr>
          <p:cNvPr id="25" name="Shape 23"/>
          <p:cNvSpPr/>
          <p:nvPr/>
        </p:nvSpPr>
        <p:spPr>
          <a:xfrm>
            <a:off x="5276088" y="4041648"/>
            <a:ext cx="237744" cy="201168"/>
          </a:xfrm>
          <a:prstGeom prst="triangle">
            <a:avLst/>
          </a:prstGeom>
          <a:solidFill>
            <a:srgbClr val="FF5A4A"/>
          </a:solidFill>
          <a:ln w="12700">
            <a:solidFill>
              <a:srgbClr val="333333"/>
            </a:solidFill>
            <a:prstDash val="solid"/>
          </a:ln>
        </p:spPr>
      </p:sp>
      <p:sp>
        <p:nvSpPr>
          <p:cNvPr id="26" name="Text 24"/>
          <p:cNvSpPr/>
          <p:nvPr/>
        </p:nvSpPr>
        <p:spPr>
          <a:xfrm>
            <a:off x="731520" y="5029200"/>
            <a:ext cx="5852160" cy="365760"/>
          </a:xfrm>
          <a:prstGeom prst="rect">
            <a:avLst/>
          </a:prstGeom>
          <a:noFill/>
          <a:ln/>
        </p:spPr>
        <p:txBody>
          <a:bodyPr wrap="square" rtlCol="0" anchor="ctr"/>
          <a:lstStyle/>
          <a:p>
            <a:pPr algn="ctr" indent="0" marL="0">
              <a:buNone/>
            </a:pPr>
            <a:r>
              <a:rPr lang="en-US" sz="1200" i="1" dirty="0">
                <a:solidFill>
                  <a:srgbClr val="CADCFC"/>
                </a:solidFill>
                <a:latin typeface="Calibri" pitchFamily="34" charset="0"/>
                <a:ea typeface="Calibri" pitchFamily="34" charset="-122"/>
                <a:cs typeface="Calibri" pitchFamily="34" charset="-120"/>
              </a:rPr>
              <a:t>Thicker arrow = more new traffic. AGC sends new requests to the cool pod.</a:t>
            </a:r>
            <a:endParaRPr lang="en-US" sz="1200" dirty="0"/>
          </a:p>
        </p:txBody>
      </p:sp>
      <p:sp>
        <p:nvSpPr>
          <p:cNvPr id="27" name="Shape 25"/>
          <p:cNvSpPr/>
          <p:nvPr/>
        </p:nvSpPr>
        <p:spPr>
          <a:xfrm>
            <a:off x="731520" y="5532120"/>
            <a:ext cx="5852160" cy="594360"/>
          </a:xfrm>
          <a:prstGeom prst="roundRect">
            <a:avLst>
              <a:gd name="adj" fmla="val 12308"/>
            </a:avLst>
          </a:prstGeom>
          <a:solidFill>
            <a:srgbClr val="13314D"/>
          </a:solidFill>
          <a:ln w="12700">
            <a:solidFill>
              <a:srgbClr val="5EA0EF"/>
            </a:solidFill>
            <a:prstDash val="solid"/>
          </a:ln>
        </p:spPr>
      </p:sp>
      <p:sp>
        <p:nvSpPr>
          <p:cNvPr id="28" name="Text 26"/>
          <p:cNvSpPr/>
          <p:nvPr/>
        </p:nvSpPr>
        <p:spPr>
          <a:xfrm>
            <a:off x="731520" y="5532120"/>
            <a:ext cx="5852160" cy="594360"/>
          </a:xfrm>
          <a:prstGeom prst="rect">
            <a:avLst/>
          </a:prstGeom>
          <a:noFill/>
          <a:ln/>
        </p:spPr>
        <p:txBody>
          <a:bodyPr wrap="square"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Pods publish ORCA load reports → AGC reads them → routes the next request.</a:t>
            </a:r>
            <a:endParaRPr lang="en-US" sz="1200" dirty="0"/>
          </a:p>
        </p:txBody>
      </p:sp>
      <p:sp>
        <p:nvSpPr>
          <p:cNvPr id="29" name="Text 27"/>
          <p:cNvSpPr/>
          <p:nvPr/>
        </p:nvSpPr>
        <p:spPr>
          <a:xfrm>
            <a:off x="7178040" y="1691640"/>
            <a:ext cx="4572000" cy="365760"/>
          </a:xfrm>
          <a:prstGeom prst="rect">
            <a:avLst/>
          </a:prstGeom>
          <a:noFill/>
          <a:ln/>
        </p:spPr>
        <p:txBody>
          <a:bodyPr wrap="square" rtlCol="0" anchor="ctr"/>
          <a:lstStyle/>
          <a:p>
            <a:pPr indent="0" marL="0">
              <a:buNone/>
            </a:pPr>
            <a:r>
              <a:rPr lang="en-US" sz="1200" b="1" spc="300" kern="0" dirty="0">
                <a:solidFill>
                  <a:srgbClr val="7A8A9E"/>
                </a:solidFill>
                <a:latin typeface="Calibri" pitchFamily="34" charset="0"/>
                <a:ea typeface="Calibri" pitchFamily="34" charset="-122"/>
                <a:cs typeface="Calibri" pitchFamily="34" charset="-120"/>
              </a:rPr>
              <a:t>Where it shines</a:t>
            </a:r>
            <a:endParaRPr lang="en-US" sz="1200" dirty="0"/>
          </a:p>
        </p:txBody>
      </p:sp>
      <p:sp>
        <p:nvSpPr>
          <p:cNvPr id="30" name="Shape 28"/>
          <p:cNvSpPr/>
          <p:nvPr/>
        </p:nvSpPr>
        <p:spPr>
          <a:xfrm>
            <a:off x="7178040" y="2148840"/>
            <a:ext cx="4572000" cy="868680"/>
          </a:xfrm>
          <a:prstGeom prst="roundRect">
            <a:avLst>
              <a:gd name="adj" fmla="val 10526"/>
            </a:avLst>
          </a:prstGeom>
          <a:solidFill>
            <a:srgbClr val="FFFFFF"/>
          </a:solidFill>
          <a:ln w="12700">
            <a:solidFill>
              <a:srgbClr val="E1E6EE"/>
            </a:solidFill>
            <a:prstDash val="solid"/>
          </a:ln>
        </p:spPr>
      </p:sp>
      <p:sp>
        <p:nvSpPr>
          <p:cNvPr id="31" name="Shape 29"/>
          <p:cNvSpPr/>
          <p:nvPr/>
        </p:nvSpPr>
        <p:spPr>
          <a:xfrm>
            <a:off x="7178040" y="2148840"/>
            <a:ext cx="137160" cy="868680"/>
          </a:xfrm>
          <a:prstGeom prst="rect">
            <a:avLst/>
          </a:prstGeom>
          <a:solidFill>
            <a:srgbClr val="A78BFA"/>
          </a:solidFill>
          <a:ln w="12700">
            <a:solidFill>
              <a:srgbClr val="333333"/>
            </a:solidFill>
            <a:prstDash val="solid"/>
          </a:ln>
        </p:spPr>
      </p:sp>
      <p:sp>
        <p:nvSpPr>
          <p:cNvPr id="32" name="Text 30"/>
          <p:cNvSpPr/>
          <p:nvPr/>
        </p:nvSpPr>
        <p:spPr>
          <a:xfrm>
            <a:off x="7452360" y="2240280"/>
            <a:ext cx="4114800" cy="320040"/>
          </a:xfrm>
          <a:prstGeom prst="rect">
            <a:avLst/>
          </a:prstGeom>
          <a:noFill/>
          <a:ln/>
        </p:spPr>
        <p:txBody>
          <a:bodyPr wrap="square" rtlCol="0" anchor="ctr"/>
          <a:lstStyle/>
          <a:p>
            <a:pPr indent="0" marL="0">
              <a:buNone/>
            </a:pPr>
            <a:r>
              <a:rPr lang="en-US" sz="1500" b="1" dirty="0">
                <a:solidFill>
                  <a:srgbClr val="A78BFA"/>
                </a:solidFill>
                <a:latin typeface="Calibri" pitchFamily="34" charset="0"/>
                <a:ea typeface="Calibri" pitchFamily="34" charset="-122"/>
                <a:cs typeface="Calibri" pitchFamily="34" charset="-120"/>
              </a:rPr>
              <a:t>AI / ML</a:t>
            </a:r>
            <a:endParaRPr lang="en-US" sz="1500" dirty="0"/>
          </a:p>
        </p:txBody>
      </p:sp>
      <p:sp>
        <p:nvSpPr>
          <p:cNvPr id="33" name="Text 31"/>
          <p:cNvSpPr/>
          <p:nvPr/>
        </p:nvSpPr>
        <p:spPr>
          <a:xfrm>
            <a:off x="7452360" y="2560320"/>
            <a:ext cx="4114800" cy="41148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Balance fluctuating inference workloads</a:t>
            </a:r>
            <a:endParaRPr lang="en-US" sz="1200" dirty="0"/>
          </a:p>
        </p:txBody>
      </p:sp>
      <p:sp>
        <p:nvSpPr>
          <p:cNvPr id="34" name="Shape 32"/>
          <p:cNvSpPr/>
          <p:nvPr/>
        </p:nvSpPr>
        <p:spPr>
          <a:xfrm>
            <a:off x="7178040" y="3200400"/>
            <a:ext cx="4572000" cy="868680"/>
          </a:xfrm>
          <a:prstGeom prst="roundRect">
            <a:avLst>
              <a:gd name="adj" fmla="val 10526"/>
            </a:avLst>
          </a:prstGeom>
          <a:solidFill>
            <a:srgbClr val="FFFFFF"/>
          </a:solidFill>
          <a:ln w="12700">
            <a:solidFill>
              <a:srgbClr val="E1E6EE"/>
            </a:solidFill>
            <a:prstDash val="solid"/>
          </a:ln>
        </p:spPr>
      </p:sp>
      <p:sp>
        <p:nvSpPr>
          <p:cNvPr id="35" name="Shape 33"/>
          <p:cNvSpPr/>
          <p:nvPr/>
        </p:nvSpPr>
        <p:spPr>
          <a:xfrm>
            <a:off x="7178040" y="3200400"/>
            <a:ext cx="137160" cy="868680"/>
          </a:xfrm>
          <a:prstGeom prst="rect">
            <a:avLst/>
          </a:prstGeom>
          <a:solidFill>
            <a:srgbClr val="5EA0EF"/>
          </a:solidFill>
          <a:ln w="12700">
            <a:solidFill>
              <a:srgbClr val="333333"/>
            </a:solidFill>
            <a:prstDash val="solid"/>
          </a:ln>
        </p:spPr>
      </p:sp>
      <p:sp>
        <p:nvSpPr>
          <p:cNvPr id="36" name="Text 34"/>
          <p:cNvSpPr/>
          <p:nvPr/>
        </p:nvSpPr>
        <p:spPr>
          <a:xfrm>
            <a:off x="7452360" y="3291840"/>
            <a:ext cx="4114800" cy="320040"/>
          </a:xfrm>
          <a:prstGeom prst="rect">
            <a:avLst/>
          </a:prstGeom>
          <a:noFill/>
          <a:ln/>
        </p:spPr>
        <p:txBody>
          <a:bodyPr wrap="square" rtlCol="0" anchor="ctr"/>
          <a:lstStyle/>
          <a:p>
            <a:pPr indent="0" marL="0">
              <a:buNone/>
            </a:pPr>
            <a:r>
              <a:rPr lang="en-US" sz="1500" b="1" dirty="0">
                <a:solidFill>
                  <a:srgbClr val="5EA0EF"/>
                </a:solidFill>
                <a:latin typeface="Calibri" pitchFamily="34" charset="0"/>
                <a:ea typeface="Calibri" pitchFamily="34" charset="-122"/>
                <a:cs typeface="Calibri" pitchFamily="34" charset="-120"/>
              </a:rPr>
              <a:t>Microservices</a:t>
            </a:r>
            <a:endParaRPr lang="en-US" sz="1500" dirty="0"/>
          </a:p>
        </p:txBody>
      </p:sp>
      <p:sp>
        <p:nvSpPr>
          <p:cNvPr id="37" name="Text 35"/>
          <p:cNvSpPr/>
          <p:nvPr/>
        </p:nvSpPr>
        <p:spPr>
          <a:xfrm>
            <a:off x="7452360" y="3611880"/>
            <a:ext cx="4114800" cy="41148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Avoid hotspots when latencies diverge</a:t>
            </a:r>
            <a:endParaRPr lang="en-US" sz="1200" dirty="0"/>
          </a:p>
        </p:txBody>
      </p:sp>
      <p:sp>
        <p:nvSpPr>
          <p:cNvPr id="38" name="Shape 36"/>
          <p:cNvSpPr/>
          <p:nvPr/>
        </p:nvSpPr>
        <p:spPr>
          <a:xfrm>
            <a:off x="7178040" y="4251960"/>
            <a:ext cx="4572000" cy="868680"/>
          </a:xfrm>
          <a:prstGeom prst="roundRect">
            <a:avLst>
              <a:gd name="adj" fmla="val 10526"/>
            </a:avLst>
          </a:prstGeom>
          <a:solidFill>
            <a:srgbClr val="FFFFFF"/>
          </a:solidFill>
          <a:ln w="12700">
            <a:solidFill>
              <a:srgbClr val="E1E6EE"/>
            </a:solidFill>
            <a:prstDash val="solid"/>
          </a:ln>
        </p:spPr>
      </p:sp>
      <p:sp>
        <p:nvSpPr>
          <p:cNvPr id="39" name="Shape 37"/>
          <p:cNvSpPr/>
          <p:nvPr/>
        </p:nvSpPr>
        <p:spPr>
          <a:xfrm>
            <a:off x="7178040" y="4251960"/>
            <a:ext cx="137160" cy="868680"/>
          </a:xfrm>
          <a:prstGeom prst="rect">
            <a:avLst/>
          </a:prstGeom>
          <a:solidFill>
            <a:srgbClr val="E8893D"/>
          </a:solidFill>
          <a:ln w="12700">
            <a:solidFill>
              <a:srgbClr val="333333"/>
            </a:solidFill>
            <a:prstDash val="solid"/>
          </a:ln>
        </p:spPr>
      </p:sp>
      <p:sp>
        <p:nvSpPr>
          <p:cNvPr id="40" name="Text 38"/>
          <p:cNvSpPr/>
          <p:nvPr/>
        </p:nvSpPr>
        <p:spPr>
          <a:xfrm>
            <a:off x="7452360" y="4343400"/>
            <a:ext cx="4114800" cy="320040"/>
          </a:xfrm>
          <a:prstGeom prst="rect">
            <a:avLst/>
          </a:prstGeom>
          <a:noFill/>
          <a:ln/>
        </p:spPr>
        <p:txBody>
          <a:bodyPr wrap="square" rtlCol="0" anchor="ctr"/>
          <a:lstStyle/>
          <a:p>
            <a:pPr indent="0" marL="0">
              <a:buNone/>
            </a:pPr>
            <a:r>
              <a:rPr lang="en-US" sz="1500" b="1" dirty="0">
                <a:solidFill>
                  <a:srgbClr val="E8893D"/>
                </a:solidFill>
                <a:latin typeface="Calibri" pitchFamily="34" charset="0"/>
                <a:ea typeface="Calibri" pitchFamily="34" charset="-122"/>
                <a:cs typeface="Calibri" pitchFamily="34" charset="-120"/>
              </a:rPr>
              <a:t>Cost</a:t>
            </a:r>
            <a:endParaRPr lang="en-US" sz="1500" dirty="0"/>
          </a:p>
        </p:txBody>
      </p:sp>
      <p:sp>
        <p:nvSpPr>
          <p:cNvPr id="41" name="Text 39"/>
          <p:cNvSpPr/>
          <p:nvPr/>
        </p:nvSpPr>
        <p:spPr>
          <a:xfrm>
            <a:off x="7452360" y="4663440"/>
            <a:ext cx="4114800" cy="41148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Prevent over-provisioning to mask hot pods</a:t>
            </a:r>
            <a:endParaRPr lang="en-US" sz="1200" dirty="0"/>
          </a:p>
        </p:txBody>
      </p:sp>
      <p:sp>
        <p:nvSpPr>
          <p:cNvPr id="42" name="Shape 40"/>
          <p:cNvSpPr/>
          <p:nvPr/>
        </p:nvSpPr>
        <p:spPr>
          <a:xfrm>
            <a:off x="7178040" y="5303520"/>
            <a:ext cx="4572000" cy="868680"/>
          </a:xfrm>
          <a:prstGeom prst="roundRect">
            <a:avLst>
              <a:gd name="adj" fmla="val 10526"/>
            </a:avLst>
          </a:prstGeom>
          <a:solidFill>
            <a:srgbClr val="FFFFFF"/>
          </a:solidFill>
          <a:ln w="12700">
            <a:solidFill>
              <a:srgbClr val="E1E6EE"/>
            </a:solidFill>
            <a:prstDash val="solid"/>
          </a:ln>
        </p:spPr>
      </p:sp>
      <p:sp>
        <p:nvSpPr>
          <p:cNvPr id="43" name="Shape 41"/>
          <p:cNvSpPr/>
          <p:nvPr/>
        </p:nvSpPr>
        <p:spPr>
          <a:xfrm>
            <a:off x="7178040" y="5303520"/>
            <a:ext cx="137160" cy="868680"/>
          </a:xfrm>
          <a:prstGeom prst="rect">
            <a:avLst/>
          </a:prstGeom>
          <a:solidFill>
            <a:srgbClr val="5BD68A"/>
          </a:solidFill>
          <a:ln w="12700">
            <a:solidFill>
              <a:srgbClr val="333333"/>
            </a:solidFill>
            <a:prstDash val="solid"/>
          </a:ln>
        </p:spPr>
      </p:sp>
      <p:sp>
        <p:nvSpPr>
          <p:cNvPr id="44" name="Text 42"/>
          <p:cNvSpPr/>
          <p:nvPr/>
        </p:nvSpPr>
        <p:spPr>
          <a:xfrm>
            <a:off x="7452360" y="5394960"/>
            <a:ext cx="4114800" cy="320040"/>
          </a:xfrm>
          <a:prstGeom prst="rect">
            <a:avLst/>
          </a:prstGeom>
          <a:noFill/>
          <a:ln/>
        </p:spPr>
        <p:txBody>
          <a:bodyPr wrap="square" rtlCol="0" anchor="ctr"/>
          <a:lstStyle/>
          <a:p>
            <a:pPr indent="0" marL="0">
              <a:buNone/>
            </a:pPr>
            <a:r>
              <a:rPr lang="en-US" sz="1500" b="1" dirty="0">
                <a:solidFill>
                  <a:srgbClr val="5BD68A"/>
                </a:solidFill>
                <a:latin typeface="Calibri" pitchFamily="34" charset="0"/>
                <a:ea typeface="Calibri" pitchFamily="34" charset="-122"/>
                <a:cs typeface="Calibri" pitchFamily="34" charset="-120"/>
              </a:rPr>
              <a:t>Low latency</a:t>
            </a:r>
            <a:endParaRPr lang="en-US" sz="1500" dirty="0"/>
          </a:p>
        </p:txBody>
      </p:sp>
      <p:sp>
        <p:nvSpPr>
          <p:cNvPr id="45" name="Text 43"/>
          <p:cNvSpPr/>
          <p:nvPr/>
        </p:nvSpPr>
        <p:spPr>
          <a:xfrm>
            <a:off x="7452360" y="5715000"/>
            <a:ext cx="4114800" cy="41148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New requests always go to the least-busy backend</a:t>
            </a:r>
            <a:endParaRPr lang="en-US" sz="1200" dirty="0"/>
          </a:p>
        </p:txBody>
      </p:sp>
      <p:sp>
        <p:nvSpPr>
          <p:cNvPr id="46" name="Text 44"/>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47" name="Text 45"/>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9 / 14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238"/>
        </a:solidFill>
      </p:bgPr>
    </p:bg>
    <p:spTree>
      <p:nvGrpSpPr>
        <p:cNvPr id="1" name=""/>
        <p:cNvGrpSpPr/>
        <p:nvPr/>
      </p:nvGrpSpPr>
      <p:grpSpPr>
        <a:xfrm>
          <a:off x="0" y="0"/>
          <a:ext cx="0" cy="0"/>
          <a:chOff x="0" y="0"/>
          <a:chExt cx="0" cy="0"/>
        </a:xfrm>
      </p:grpSpPr>
      <p:sp>
        <p:nvSpPr>
          <p:cNvPr id="2" name="Text 0"/>
          <p:cNvSpPr/>
          <p:nvPr/>
        </p:nvSpPr>
        <p:spPr>
          <a:xfrm>
            <a:off x="457200" y="274320"/>
            <a:ext cx="11247120" cy="457200"/>
          </a:xfrm>
          <a:prstGeom prst="rect">
            <a:avLst/>
          </a:prstGeom>
          <a:noFill/>
          <a:ln/>
        </p:spPr>
        <p:txBody>
          <a:bodyPr wrap="square" rtlCol="0" anchor="ctr"/>
          <a:lstStyle/>
          <a:p>
            <a:pPr indent="0" marL="0">
              <a:buNone/>
            </a:pPr>
            <a:r>
              <a:rPr lang="en-US" sz="1400" b="1" spc="400" kern="0" dirty="0">
                <a:solidFill>
                  <a:srgbClr val="5EA0EF"/>
                </a:solidFill>
                <a:latin typeface="Calibri" pitchFamily="34" charset="0"/>
                <a:ea typeface="Calibri" pitchFamily="34" charset="-122"/>
                <a:cs typeface="Calibri" pitchFamily="34" charset="-120"/>
              </a:rPr>
              <a:t>NAP + AGC — TWO CONTROL LOOPS, ONE CLUSTER</a:t>
            </a:r>
            <a:endParaRPr lang="en-US" sz="1400" dirty="0"/>
          </a:p>
        </p:txBody>
      </p:sp>
      <p:sp>
        <p:nvSpPr>
          <p:cNvPr id="3" name="Text 1"/>
          <p:cNvSpPr/>
          <p:nvPr/>
        </p:nvSpPr>
        <p:spPr>
          <a:xfrm>
            <a:off x="457200" y="731520"/>
            <a:ext cx="11247120" cy="45720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NAP optimizes the machines · AGC optimizes the traffic</a:t>
            </a:r>
            <a:endParaRPr lang="en-US" sz="2200" dirty="0"/>
          </a:p>
        </p:txBody>
      </p:sp>
      <p:pic>
        <p:nvPicPr>
          <p:cNvPr id="4" name="Image 0" descr="C:\Users\vnamani\demo\docs\architecture-nap-agc.png">    </p:cNvPr>
          <p:cNvPicPr>
            <a:picLocks noChangeAspect="1"/>
          </p:cNvPicPr>
          <p:nvPr/>
        </p:nvPicPr>
        <p:blipFill>
          <a:blip r:embed="rId1"/>
          <a:srcRect l="0" r="0" t="0" b="0"/>
          <a:stretch/>
        </p:blipFill>
        <p:spPr>
          <a:xfrm>
            <a:off x="640080" y="1371600"/>
            <a:ext cx="10908792" cy="4754880"/>
          </a:xfrm>
          <a:prstGeom prst="rect">
            <a:avLst/>
          </a:prstGeom>
        </p:spPr>
      </p:pic>
      <p:sp>
        <p:nvSpPr>
          <p:cNvPr id="5" name="Text 2"/>
          <p:cNvSpPr/>
          <p:nvPr/>
        </p:nvSpPr>
        <p:spPr>
          <a:xfrm>
            <a:off x="457200" y="6263640"/>
            <a:ext cx="11247120" cy="365760"/>
          </a:xfrm>
          <a:prstGeom prst="rect">
            <a:avLst/>
          </a:prstGeom>
          <a:noFill/>
          <a:ln/>
        </p:spPr>
        <p:txBody>
          <a:bodyPr wrap="square" rtlCol="0" anchor="ctr"/>
          <a:lstStyle/>
          <a:p>
            <a:pPr algn="ctr" indent="0" marL="0">
              <a:buNone/>
            </a:pPr>
            <a:r>
              <a:rPr lang="en-US" sz="1300" i="1" dirty="0">
                <a:solidFill>
                  <a:srgbClr val="CADCFC"/>
                </a:solidFill>
                <a:latin typeface="Calibri" pitchFamily="34" charset="0"/>
                <a:ea typeface="Calibri" pitchFamily="34" charset="-122"/>
                <a:cs typeface="Calibri" pitchFamily="34" charset="-120"/>
              </a:rPr>
              <a:t>Compute by Karpenter / NAP   ·   Traffic by AGC</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THE WHOLE CONFIG</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Three lines of YAML drive everything</a:t>
            </a:r>
            <a:endParaRPr lang="en-US" sz="3000" dirty="0"/>
          </a:p>
        </p:txBody>
      </p:sp>
      <p:sp>
        <p:nvSpPr>
          <p:cNvPr id="5" name="Shape 3"/>
          <p:cNvSpPr/>
          <p:nvPr/>
        </p:nvSpPr>
        <p:spPr>
          <a:xfrm>
            <a:off x="457200" y="1325880"/>
            <a:ext cx="11247120" cy="3108960"/>
          </a:xfrm>
          <a:prstGeom prst="roundRect">
            <a:avLst>
              <a:gd name="adj" fmla="val 3529"/>
            </a:avLst>
          </a:prstGeom>
          <a:solidFill>
            <a:srgbClr val="0B1B2E"/>
          </a:solidFill>
          <a:ln w="12700">
            <a:solidFill>
              <a:srgbClr val="333333"/>
            </a:solidFill>
            <a:prstDash val="solid"/>
          </a:ln>
        </p:spPr>
      </p:sp>
      <p:sp>
        <p:nvSpPr>
          <p:cNvPr id="6" name="Text 4"/>
          <p:cNvSpPr/>
          <p:nvPr/>
        </p:nvSpPr>
        <p:spPr>
          <a:xfrm>
            <a:off x="777240" y="1417320"/>
            <a:ext cx="10515600" cy="365760"/>
          </a:xfrm>
          <a:prstGeom prst="rect">
            <a:avLst/>
          </a:prstGeom>
          <a:noFill/>
          <a:ln/>
        </p:spPr>
        <p:txBody>
          <a:bodyPr wrap="square" rtlCol="0" anchor="ctr"/>
          <a:lstStyle/>
          <a:p>
            <a:pPr indent="0" marL="0">
              <a:buNone/>
            </a:pPr>
            <a:r>
              <a:rPr lang="en-US" sz="1200" spc="200" kern="0" dirty="0">
                <a:solidFill>
                  <a:srgbClr val="7A8A9E"/>
                </a:solidFill>
                <a:latin typeface="Calibri" pitchFamily="34" charset="0"/>
                <a:ea typeface="Calibri" pitchFamily="34" charset="-122"/>
                <a:cs typeface="Calibri" pitchFamily="34" charset="-120"/>
              </a:rPr>
              <a:t>manifests/nodepool.yaml  (excerpt)</a:t>
            </a:r>
            <a:endParaRPr lang="en-US" sz="1200" dirty="0"/>
          </a:p>
        </p:txBody>
      </p:sp>
      <p:sp>
        <p:nvSpPr>
          <p:cNvPr id="7" name="Text 5"/>
          <p:cNvSpPr/>
          <p:nvPr/>
        </p:nvSpPr>
        <p:spPr>
          <a:xfrm>
            <a:off x="777240" y="1874520"/>
            <a:ext cx="10515600" cy="2377440"/>
          </a:xfrm>
          <a:prstGeom prst="rect">
            <a:avLst/>
          </a:prstGeom>
          <a:noFill/>
          <a:ln/>
        </p:spPr>
        <p:txBody>
          <a:bodyPr wrap="square" rtlCol="0" anchor="ctr"/>
          <a:lstStyle/>
          <a:p>
            <a:pPr indent="0" marL="0">
              <a:spcAft>
                <a:spcPts val="600"/>
              </a:spcAft>
              <a:buNone/>
            </a:pPr>
            <a:r>
              <a:rPr lang="en-US" sz="3200" b="1" dirty="0">
                <a:solidFill>
                  <a:srgbClr val="FFFFFF"/>
                </a:solidFill>
                <a:latin typeface="Consolas" pitchFamily="34" charset="0"/>
                <a:ea typeface="Consolas" pitchFamily="34" charset="-122"/>
                <a:cs typeface="Consolas" pitchFamily="34" charset="-120"/>
              </a:rPr>
              <a:t>sku-family       In ["D", "E"]</a:t>
            </a:r>
            <a:endParaRPr lang="en-US" sz="3200" dirty="0"/>
          </a:p>
          <a:p>
            <a:pPr indent="0" marL="0">
              <a:spcAft>
                <a:spcPts val="600"/>
              </a:spcAft>
              <a:buNone/>
            </a:pPr>
            <a:r>
              <a:rPr lang="en-US" sz="3200" b="1" dirty="0">
                <a:solidFill>
                  <a:srgbClr val="FFFFFF"/>
                </a:solidFill>
                <a:latin typeface="Consolas" pitchFamily="34" charset="0"/>
                <a:ea typeface="Consolas" pitchFamily="34" charset="-122"/>
                <a:cs typeface="Consolas" pitchFamily="34" charset="-120"/>
              </a:rPr>
              <a:t>capacity-type    In ["on-demand", "spot"]</a:t>
            </a:r>
            <a:endParaRPr lang="en-US" sz="3200" dirty="0"/>
          </a:p>
          <a:p>
            <a:pPr indent="0" marL="0">
              <a:spcAft>
                <a:spcPts val="600"/>
              </a:spcAft>
              <a:buNone/>
            </a:pPr>
            <a:r>
              <a:rPr lang="en-US" sz="3200" b="1" dirty="0">
                <a:solidFill>
                  <a:srgbClr val="FFFFFF"/>
                </a:solidFill>
                <a:latin typeface="Consolas" pitchFamily="34" charset="0"/>
                <a:ea typeface="Consolas" pitchFamily="34" charset="-122"/>
                <a:cs typeface="Consolas" pitchFamily="34" charset="-120"/>
              </a:rPr>
              <a:t>consolidationPolicy: WhenUnderutilized</a:t>
            </a:r>
            <a:endParaRPr lang="en-US" sz="3200" dirty="0"/>
          </a:p>
        </p:txBody>
      </p:sp>
      <p:sp>
        <p:nvSpPr>
          <p:cNvPr id="8" name="Shape 6"/>
          <p:cNvSpPr/>
          <p:nvPr/>
        </p:nvSpPr>
        <p:spPr>
          <a:xfrm>
            <a:off x="457200" y="4617720"/>
            <a:ext cx="3566160" cy="1463040"/>
          </a:xfrm>
          <a:prstGeom prst="roundRect">
            <a:avLst>
              <a:gd name="adj" fmla="val 6250"/>
            </a:avLst>
          </a:prstGeom>
          <a:solidFill>
            <a:srgbClr val="FFFFFF"/>
          </a:solidFill>
          <a:ln w="12700">
            <a:solidFill>
              <a:srgbClr val="E1E6EE"/>
            </a:solidFill>
            <a:prstDash val="solid"/>
          </a:ln>
        </p:spPr>
      </p:sp>
      <p:sp>
        <p:nvSpPr>
          <p:cNvPr id="9" name="Shape 7"/>
          <p:cNvSpPr/>
          <p:nvPr/>
        </p:nvSpPr>
        <p:spPr>
          <a:xfrm>
            <a:off x="457200" y="4617720"/>
            <a:ext cx="3566160" cy="109728"/>
          </a:xfrm>
          <a:prstGeom prst="rect">
            <a:avLst/>
          </a:prstGeom>
          <a:solidFill>
            <a:srgbClr val="5EA0EF"/>
          </a:solidFill>
          <a:ln w="12700">
            <a:solidFill>
              <a:srgbClr val="333333"/>
            </a:solidFill>
            <a:prstDash val="solid"/>
          </a:ln>
        </p:spPr>
      </p:sp>
      <p:sp>
        <p:nvSpPr>
          <p:cNvPr id="10" name="Text 8"/>
          <p:cNvSpPr/>
          <p:nvPr/>
        </p:nvSpPr>
        <p:spPr>
          <a:xfrm>
            <a:off x="685800" y="4846320"/>
            <a:ext cx="3108960" cy="365760"/>
          </a:xfrm>
          <a:prstGeom prst="rect">
            <a:avLst/>
          </a:prstGeom>
          <a:noFill/>
          <a:ln/>
        </p:spPr>
        <p:txBody>
          <a:bodyPr wrap="square" rtlCol="0" anchor="ctr"/>
          <a:lstStyle/>
          <a:p>
            <a:pPr indent="0" marL="0">
              <a:buNone/>
            </a:pPr>
            <a:r>
              <a:rPr lang="en-US" sz="1400" b="1" dirty="0">
                <a:solidFill>
                  <a:srgbClr val="5EA0EF"/>
                </a:solidFill>
                <a:latin typeface="Consolas" pitchFamily="34" charset="0"/>
                <a:ea typeface="Consolas" pitchFamily="34" charset="-122"/>
                <a:cs typeface="Consolas" pitchFamily="34" charset="-120"/>
              </a:rPr>
              <a:t>sku-family</a:t>
            </a:r>
            <a:endParaRPr lang="en-US" sz="1400" dirty="0"/>
          </a:p>
        </p:txBody>
      </p:sp>
      <p:sp>
        <p:nvSpPr>
          <p:cNvPr id="11" name="Text 9"/>
          <p:cNvSpPr/>
          <p:nvPr/>
        </p:nvSpPr>
        <p:spPr>
          <a:xfrm>
            <a:off x="685800" y="5257800"/>
            <a:ext cx="3108960" cy="777240"/>
          </a:xfrm>
          <a:prstGeom prst="rect">
            <a:avLst/>
          </a:prstGeom>
          <a:noFill/>
          <a:ln/>
        </p:spPr>
        <p:txBody>
          <a:bodyPr wrap="square" rtlCol="0" anchor="ctr"/>
          <a:lstStyle/>
          <a:p>
            <a:pPr indent="0" marL="0">
              <a:buNone/>
            </a:pPr>
            <a:r>
              <a:rPr lang="en-US" sz="1300" dirty="0">
                <a:solidFill>
                  <a:srgbClr val="12233A"/>
                </a:solidFill>
                <a:latin typeface="Calibri" pitchFamily="34" charset="0"/>
                <a:ea typeface="Calibri" pitchFamily="34" charset="-122"/>
                <a:cs typeface="Calibri" pitchFamily="34" charset="-120"/>
              </a:rPr>
              <a:t>Karpenter picks the cheapest VM in an allowed family.</a:t>
            </a:r>
            <a:endParaRPr lang="en-US" sz="1300" dirty="0"/>
          </a:p>
        </p:txBody>
      </p:sp>
      <p:sp>
        <p:nvSpPr>
          <p:cNvPr id="12" name="Shape 10"/>
          <p:cNvSpPr/>
          <p:nvPr/>
        </p:nvSpPr>
        <p:spPr>
          <a:xfrm>
            <a:off x="4297680" y="4617720"/>
            <a:ext cx="3566160" cy="1463040"/>
          </a:xfrm>
          <a:prstGeom prst="roundRect">
            <a:avLst>
              <a:gd name="adj" fmla="val 6250"/>
            </a:avLst>
          </a:prstGeom>
          <a:solidFill>
            <a:srgbClr val="FFFFFF"/>
          </a:solidFill>
          <a:ln w="12700">
            <a:solidFill>
              <a:srgbClr val="E1E6EE"/>
            </a:solidFill>
            <a:prstDash val="solid"/>
          </a:ln>
        </p:spPr>
      </p:sp>
      <p:sp>
        <p:nvSpPr>
          <p:cNvPr id="13" name="Shape 11"/>
          <p:cNvSpPr/>
          <p:nvPr/>
        </p:nvSpPr>
        <p:spPr>
          <a:xfrm>
            <a:off x="4297680" y="4617720"/>
            <a:ext cx="3566160" cy="109728"/>
          </a:xfrm>
          <a:prstGeom prst="rect">
            <a:avLst/>
          </a:prstGeom>
          <a:solidFill>
            <a:srgbClr val="E8893D"/>
          </a:solidFill>
          <a:ln w="12700">
            <a:solidFill>
              <a:srgbClr val="333333"/>
            </a:solidFill>
            <a:prstDash val="solid"/>
          </a:ln>
        </p:spPr>
      </p:sp>
      <p:sp>
        <p:nvSpPr>
          <p:cNvPr id="14" name="Text 12"/>
          <p:cNvSpPr/>
          <p:nvPr/>
        </p:nvSpPr>
        <p:spPr>
          <a:xfrm>
            <a:off x="4526280" y="4846320"/>
            <a:ext cx="3108960" cy="365760"/>
          </a:xfrm>
          <a:prstGeom prst="rect">
            <a:avLst/>
          </a:prstGeom>
          <a:noFill/>
          <a:ln/>
        </p:spPr>
        <p:txBody>
          <a:bodyPr wrap="square" rtlCol="0" anchor="ctr"/>
          <a:lstStyle/>
          <a:p>
            <a:pPr indent="0" marL="0">
              <a:buNone/>
            </a:pPr>
            <a:r>
              <a:rPr lang="en-US" sz="1400" b="1" dirty="0">
                <a:solidFill>
                  <a:srgbClr val="E8893D"/>
                </a:solidFill>
                <a:latin typeface="Consolas" pitchFamily="34" charset="0"/>
                <a:ea typeface="Consolas" pitchFamily="34" charset="-122"/>
                <a:cs typeface="Consolas" pitchFamily="34" charset="-120"/>
              </a:rPr>
              <a:t>capacity-type</a:t>
            </a:r>
            <a:endParaRPr lang="en-US" sz="1400" dirty="0"/>
          </a:p>
        </p:txBody>
      </p:sp>
      <p:sp>
        <p:nvSpPr>
          <p:cNvPr id="15" name="Text 13"/>
          <p:cNvSpPr/>
          <p:nvPr/>
        </p:nvSpPr>
        <p:spPr>
          <a:xfrm>
            <a:off x="4526280" y="5257800"/>
            <a:ext cx="3108960" cy="777240"/>
          </a:xfrm>
          <a:prstGeom prst="rect">
            <a:avLst/>
          </a:prstGeom>
          <a:noFill/>
          <a:ln/>
        </p:spPr>
        <p:txBody>
          <a:bodyPr wrap="square" rtlCol="0" anchor="ctr"/>
          <a:lstStyle/>
          <a:p>
            <a:pPr indent="0" marL="0">
              <a:buNone/>
            </a:pPr>
            <a:r>
              <a:rPr lang="en-US" sz="1300" dirty="0">
                <a:solidFill>
                  <a:srgbClr val="12233A"/>
                </a:solidFill>
                <a:latin typeface="Calibri" pitchFamily="34" charset="0"/>
                <a:ea typeface="Calibri" pitchFamily="34" charset="-122"/>
                <a:cs typeface="Calibri" pitchFamily="34" charset="-120"/>
              </a:rPr>
              <a:t>Mix on-demand + Spot for batch / dev / non-critical.</a:t>
            </a:r>
            <a:endParaRPr lang="en-US" sz="1300" dirty="0"/>
          </a:p>
        </p:txBody>
      </p:sp>
      <p:sp>
        <p:nvSpPr>
          <p:cNvPr id="16" name="Shape 14"/>
          <p:cNvSpPr/>
          <p:nvPr/>
        </p:nvSpPr>
        <p:spPr>
          <a:xfrm>
            <a:off x="8138160" y="4617720"/>
            <a:ext cx="3566160" cy="1463040"/>
          </a:xfrm>
          <a:prstGeom prst="roundRect">
            <a:avLst>
              <a:gd name="adj" fmla="val 6250"/>
            </a:avLst>
          </a:prstGeom>
          <a:solidFill>
            <a:srgbClr val="FFFFFF"/>
          </a:solidFill>
          <a:ln w="12700">
            <a:solidFill>
              <a:srgbClr val="E1E6EE"/>
            </a:solidFill>
            <a:prstDash val="solid"/>
          </a:ln>
        </p:spPr>
      </p:sp>
      <p:sp>
        <p:nvSpPr>
          <p:cNvPr id="17" name="Shape 15"/>
          <p:cNvSpPr/>
          <p:nvPr/>
        </p:nvSpPr>
        <p:spPr>
          <a:xfrm>
            <a:off x="8138160" y="4617720"/>
            <a:ext cx="3566160" cy="109728"/>
          </a:xfrm>
          <a:prstGeom prst="rect">
            <a:avLst/>
          </a:prstGeom>
          <a:solidFill>
            <a:srgbClr val="5BD68A"/>
          </a:solidFill>
          <a:ln w="12700">
            <a:solidFill>
              <a:srgbClr val="333333"/>
            </a:solidFill>
            <a:prstDash val="solid"/>
          </a:ln>
        </p:spPr>
      </p:sp>
      <p:sp>
        <p:nvSpPr>
          <p:cNvPr id="18" name="Text 16"/>
          <p:cNvSpPr/>
          <p:nvPr/>
        </p:nvSpPr>
        <p:spPr>
          <a:xfrm>
            <a:off x="8366760" y="4846320"/>
            <a:ext cx="3108960" cy="365760"/>
          </a:xfrm>
          <a:prstGeom prst="rect">
            <a:avLst/>
          </a:prstGeom>
          <a:noFill/>
          <a:ln/>
        </p:spPr>
        <p:txBody>
          <a:bodyPr wrap="square" rtlCol="0" anchor="ctr"/>
          <a:lstStyle/>
          <a:p>
            <a:pPr indent="0" marL="0">
              <a:buNone/>
            </a:pPr>
            <a:r>
              <a:rPr lang="en-US" sz="1400" b="1" dirty="0">
                <a:solidFill>
                  <a:srgbClr val="5BD68A"/>
                </a:solidFill>
                <a:latin typeface="Consolas" pitchFamily="34" charset="0"/>
                <a:ea typeface="Consolas" pitchFamily="34" charset="-122"/>
                <a:cs typeface="Consolas" pitchFamily="34" charset="-120"/>
              </a:rPr>
              <a:t>consolidationPolicy</a:t>
            </a:r>
            <a:endParaRPr lang="en-US" sz="1400" dirty="0"/>
          </a:p>
        </p:txBody>
      </p:sp>
      <p:sp>
        <p:nvSpPr>
          <p:cNvPr id="19" name="Text 17"/>
          <p:cNvSpPr/>
          <p:nvPr/>
        </p:nvSpPr>
        <p:spPr>
          <a:xfrm>
            <a:off x="8366760" y="5257800"/>
            <a:ext cx="3108960" cy="777240"/>
          </a:xfrm>
          <a:prstGeom prst="rect">
            <a:avLst/>
          </a:prstGeom>
          <a:noFill/>
          <a:ln/>
        </p:spPr>
        <p:txBody>
          <a:bodyPr wrap="square" rtlCol="0" anchor="ctr"/>
          <a:lstStyle/>
          <a:p>
            <a:pPr indent="0" marL="0">
              <a:buNone/>
            </a:pPr>
            <a:r>
              <a:rPr lang="en-US" sz="1300" dirty="0">
                <a:solidFill>
                  <a:srgbClr val="12233A"/>
                </a:solidFill>
                <a:latin typeface="Calibri" pitchFamily="34" charset="0"/>
                <a:ea typeface="Calibri" pitchFamily="34" charset="-122"/>
                <a:cs typeface="Calibri" pitchFamily="34" charset="-120"/>
              </a:rPr>
              <a:t>Idle nodes get drained and deleted — bill stops.</a:t>
            </a:r>
            <a:endParaRPr lang="en-US" sz="1300" dirty="0"/>
          </a:p>
        </p:txBody>
      </p:sp>
      <p:sp>
        <p:nvSpPr>
          <p:cNvPr id="20" name="Text 18"/>
          <p:cNvSpPr/>
          <p:nvPr/>
        </p:nvSpPr>
        <p:spPr>
          <a:xfrm>
            <a:off x="457200" y="6217920"/>
            <a:ext cx="11247120" cy="365760"/>
          </a:xfrm>
          <a:prstGeom prst="rect">
            <a:avLst/>
          </a:prstGeom>
          <a:noFill/>
          <a:ln/>
        </p:spPr>
        <p:txBody>
          <a:bodyPr wrap="square" rtlCol="0" anchor="ctr"/>
          <a:lstStyle/>
          <a:p>
            <a:pPr algn="ctr" indent="0" marL="0">
              <a:buNone/>
            </a:pPr>
            <a:r>
              <a:rPr lang="en-US" sz="1400" i="1" dirty="0">
                <a:solidFill>
                  <a:srgbClr val="065A82"/>
                </a:solidFill>
                <a:latin typeface="Calibri" pitchFamily="34" charset="0"/>
                <a:ea typeface="Calibri" pitchFamily="34" charset="-122"/>
                <a:cs typeface="Calibri" pitchFamily="34" charset="-120"/>
              </a:rPr>
              <a:t>No min/max counts. No SKU list. No second node pool. The cluster does the rest.</a:t>
            </a:r>
            <a:endParaRPr lang="en-US" sz="1400" dirty="0"/>
          </a:p>
        </p:txBody>
      </p:sp>
      <p:sp>
        <p:nvSpPr>
          <p:cNvPr id="21" name="Text 19"/>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22" name="Text 20"/>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11 / 14</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WHERE THE SAVINGS ACTUALLY COME FROM</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The cost story, told like a person</a:t>
            </a:r>
            <a:endParaRPr lang="en-US" sz="3000" dirty="0"/>
          </a:p>
        </p:txBody>
      </p:sp>
      <p:sp>
        <p:nvSpPr>
          <p:cNvPr id="5" name="Shape 3"/>
          <p:cNvSpPr/>
          <p:nvPr/>
        </p:nvSpPr>
        <p:spPr>
          <a:xfrm>
            <a:off x="457200" y="1325880"/>
            <a:ext cx="5486400" cy="4846320"/>
          </a:xfrm>
          <a:prstGeom prst="roundRect">
            <a:avLst>
              <a:gd name="adj" fmla="val 2264"/>
            </a:avLst>
          </a:prstGeom>
          <a:solidFill>
            <a:srgbClr val="0B1B2E"/>
          </a:solidFill>
          <a:ln w="12700">
            <a:solidFill>
              <a:srgbClr val="333333"/>
            </a:solidFill>
            <a:prstDash val="solid"/>
          </a:ln>
        </p:spPr>
      </p:sp>
      <p:sp>
        <p:nvSpPr>
          <p:cNvPr id="6" name="Text 4"/>
          <p:cNvSpPr/>
          <p:nvPr/>
        </p:nvSpPr>
        <p:spPr>
          <a:xfrm>
            <a:off x="640080" y="1554480"/>
            <a:ext cx="5120640" cy="1554480"/>
          </a:xfrm>
          <a:prstGeom prst="rect">
            <a:avLst/>
          </a:prstGeom>
          <a:noFill/>
          <a:ln/>
        </p:spPr>
        <p:txBody>
          <a:bodyPr wrap="square" rtlCol="0" anchor="ctr"/>
          <a:lstStyle/>
          <a:p>
            <a:pPr indent="0" marL="0">
              <a:buNone/>
            </a:pPr>
            <a:r>
              <a:rPr lang="en-US" sz="11000" b="1" dirty="0">
                <a:solidFill>
                  <a:srgbClr val="5BD68A"/>
                </a:solidFill>
                <a:latin typeface="Calibri" pitchFamily="34" charset="0"/>
                <a:ea typeface="Calibri" pitchFamily="34" charset="-122"/>
                <a:cs typeface="Calibri" pitchFamily="34" charset="-120"/>
              </a:rPr>
              <a:t>~$8</a:t>
            </a:r>
            <a:endParaRPr lang="en-US" sz="11000" dirty="0"/>
          </a:p>
        </p:txBody>
      </p:sp>
      <p:sp>
        <p:nvSpPr>
          <p:cNvPr id="7" name="Text 5"/>
          <p:cNvSpPr/>
          <p:nvPr/>
        </p:nvSpPr>
        <p:spPr>
          <a:xfrm>
            <a:off x="640080" y="3200400"/>
            <a:ext cx="5120640" cy="640080"/>
          </a:xfrm>
          <a:prstGeom prst="rect">
            <a:avLst/>
          </a:prstGeom>
          <a:noFill/>
          <a:ln/>
        </p:spPr>
        <p:txBody>
          <a:bodyPr wrap="square"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saved on one node, on one workload, on one night</a:t>
            </a:r>
            <a:endParaRPr lang="en-US" sz="1600" dirty="0"/>
          </a:p>
        </p:txBody>
      </p:sp>
      <p:sp>
        <p:nvSpPr>
          <p:cNvPr id="8" name="Text 6"/>
          <p:cNvSpPr/>
          <p:nvPr/>
        </p:nvSpPr>
        <p:spPr>
          <a:xfrm>
            <a:off x="640080" y="3931920"/>
            <a:ext cx="5120640" cy="1097280"/>
          </a:xfrm>
          <a:prstGeom prst="rect">
            <a:avLst/>
          </a:prstGeom>
          <a:noFill/>
          <a:ln/>
        </p:spPr>
        <p:txBody>
          <a:bodyPr wrap="square" rtlCol="0" anchor="ctr"/>
          <a:lstStyle/>
          <a:p>
            <a:pPr indent="0" marL="0">
              <a:buNone/>
            </a:pPr>
            <a:r>
              <a:rPr lang="en-US" sz="1300" i="1" dirty="0">
                <a:solidFill>
                  <a:srgbClr val="CADCFC"/>
                </a:solidFill>
                <a:latin typeface="Calibri" pitchFamily="34" charset="0"/>
                <a:ea typeface="Calibri" pitchFamily="34" charset="-122"/>
                <a:cs typeface="Calibri" pitchFamily="34" charset="-120"/>
              </a:rPr>
              <a:t>E16s_v5 ≈ $1/hr · ran 1 hr during the sale</a:t>
            </a:r>
            <a:endParaRPr lang="en-US" sz="1300" dirty="0"/>
          </a:p>
          <a:p>
            <a:pPr indent="0" marL="0">
              <a:buNone/>
            </a:pPr>
            <a:r>
              <a:rPr lang="en-US" sz="1300" i="1" dirty="0">
                <a:solidFill>
                  <a:srgbClr val="CADCFC"/>
                </a:solidFill>
                <a:latin typeface="Calibri" pitchFamily="34" charset="0"/>
                <a:ea typeface="Calibri" pitchFamily="34" charset="-122"/>
                <a:cs typeface="Calibri" pitchFamily="34" charset="-120"/>
              </a:rPr>
              <a:t>In a manual pool: would have run all night (~9 hrs)</a:t>
            </a:r>
            <a:endParaRPr lang="en-US" sz="1300" dirty="0"/>
          </a:p>
        </p:txBody>
      </p:sp>
      <p:sp>
        <p:nvSpPr>
          <p:cNvPr id="9" name="Text 7"/>
          <p:cNvSpPr/>
          <p:nvPr/>
        </p:nvSpPr>
        <p:spPr>
          <a:xfrm>
            <a:off x="640080" y="5212080"/>
            <a:ext cx="5120640" cy="822960"/>
          </a:xfrm>
          <a:prstGeom prst="rect">
            <a:avLst/>
          </a:prstGeom>
          <a:noFill/>
          <a:ln/>
        </p:spPr>
        <p:txBody>
          <a:bodyPr wrap="square" rtlCol="0" anchor="ctr"/>
          <a:lstStyle/>
          <a:p>
            <a:pPr indent="0" marL="0">
              <a:buNone/>
            </a:pPr>
            <a:r>
              <a:rPr lang="en-US" sz="1400" b="1" dirty="0">
                <a:solidFill>
                  <a:srgbClr val="5EA0EF"/>
                </a:solidFill>
                <a:latin typeface="Calibri" pitchFamily="34" charset="0"/>
                <a:ea typeface="Calibri" pitchFamily="34" charset="-122"/>
                <a:cs typeface="Calibri" pitchFamily="34" charset="-120"/>
              </a:rPr>
              <a:t>Multiply by every workload × every team × every cluster × every night.</a:t>
            </a:r>
            <a:endParaRPr lang="en-US" sz="1400" dirty="0"/>
          </a:p>
        </p:txBody>
      </p:sp>
      <p:sp>
        <p:nvSpPr>
          <p:cNvPr id="10" name="Text 8"/>
          <p:cNvSpPr/>
          <p:nvPr/>
        </p:nvSpPr>
        <p:spPr>
          <a:xfrm>
            <a:off x="6263640" y="1371600"/>
            <a:ext cx="5486400" cy="457200"/>
          </a:xfrm>
          <a:prstGeom prst="rect">
            <a:avLst/>
          </a:prstGeom>
          <a:noFill/>
          <a:ln/>
        </p:spPr>
        <p:txBody>
          <a:bodyPr wrap="square" rtlCol="0" anchor="ctr"/>
          <a:lstStyle/>
          <a:p>
            <a:pPr indent="0" marL="0">
              <a:buNone/>
            </a:pPr>
            <a:r>
              <a:rPr lang="en-US" sz="2000" b="1" dirty="0">
                <a:solidFill>
                  <a:srgbClr val="12233A"/>
                </a:solidFill>
                <a:latin typeface="Calibri" pitchFamily="34" charset="0"/>
                <a:ea typeface="Calibri" pitchFamily="34" charset="-122"/>
                <a:cs typeface="Calibri" pitchFamily="34" charset="-120"/>
              </a:rPr>
              <a:t>What did NOT happen tonight</a:t>
            </a:r>
            <a:endParaRPr lang="en-US" sz="2000" dirty="0"/>
          </a:p>
        </p:txBody>
      </p:sp>
      <p:sp>
        <p:nvSpPr>
          <p:cNvPr id="11" name="Shape 9"/>
          <p:cNvSpPr/>
          <p:nvPr/>
        </p:nvSpPr>
        <p:spPr>
          <a:xfrm>
            <a:off x="6263640" y="2103120"/>
            <a:ext cx="201168" cy="201168"/>
          </a:xfrm>
          <a:prstGeom prst="ellipse">
            <a:avLst/>
          </a:prstGeom>
          <a:solidFill>
            <a:srgbClr val="5BD68A"/>
          </a:solidFill>
          <a:ln w="12700">
            <a:solidFill>
              <a:srgbClr val="333333"/>
            </a:solidFill>
            <a:prstDash val="solid"/>
          </a:ln>
        </p:spPr>
      </p:sp>
      <p:sp>
        <p:nvSpPr>
          <p:cNvPr id="12" name="Text 10"/>
          <p:cNvSpPr/>
          <p:nvPr/>
        </p:nvSpPr>
        <p:spPr>
          <a:xfrm>
            <a:off x="6629400" y="2011680"/>
            <a:ext cx="5120640" cy="548640"/>
          </a:xfrm>
          <a:prstGeom prst="rect">
            <a:avLst/>
          </a:prstGeom>
          <a:noFill/>
          <a:ln/>
        </p:spPr>
        <p:txBody>
          <a:bodyPr wrap="square" rtlCol="0" anchor="ctr"/>
          <a:lstStyle/>
          <a:p>
            <a:pPr indent="0" marL="0">
              <a:buNone/>
            </a:pPr>
            <a:r>
              <a:rPr lang="en-US" sz="1500" dirty="0">
                <a:solidFill>
                  <a:srgbClr val="12233A"/>
                </a:solidFill>
                <a:latin typeface="Calibri" pitchFamily="34" charset="0"/>
                <a:ea typeface="Calibri" pitchFamily="34" charset="-122"/>
                <a:cs typeface="Calibri" pitchFamily="34" charset="-120"/>
              </a:rPr>
              <a:t>Nobody got paged at 11pm.</a:t>
            </a:r>
            <a:endParaRPr lang="en-US" sz="1500" dirty="0"/>
          </a:p>
        </p:txBody>
      </p:sp>
      <p:sp>
        <p:nvSpPr>
          <p:cNvPr id="13" name="Shape 11"/>
          <p:cNvSpPr/>
          <p:nvPr/>
        </p:nvSpPr>
        <p:spPr>
          <a:xfrm>
            <a:off x="6263640" y="2816352"/>
            <a:ext cx="201168" cy="201168"/>
          </a:xfrm>
          <a:prstGeom prst="ellipse">
            <a:avLst/>
          </a:prstGeom>
          <a:solidFill>
            <a:srgbClr val="5BD68A"/>
          </a:solidFill>
          <a:ln w="12700">
            <a:solidFill>
              <a:srgbClr val="333333"/>
            </a:solidFill>
            <a:prstDash val="solid"/>
          </a:ln>
        </p:spPr>
      </p:sp>
      <p:sp>
        <p:nvSpPr>
          <p:cNvPr id="14" name="Text 12"/>
          <p:cNvSpPr/>
          <p:nvPr/>
        </p:nvSpPr>
        <p:spPr>
          <a:xfrm>
            <a:off x="6629400" y="2724912"/>
            <a:ext cx="5120640" cy="548640"/>
          </a:xfrm>
          <a:prstGeom prst="rect">
            <a:avLst/>
          </a:prstGeom>
          <a:noFill/>
          <a:ln/>
        </p:spPr>
        <p:txBody>
          <a:bodyPr wrap="square" rtlCol="0" anchor="ctr"/>
          <a:lstStyle/>
          <a:p>
            <a:pPr indent="0" marL="0">
              <a:buNone/>
            </a:pPr>
            <a:r>
              <a:rPr lang="en-US" sz="1500" dirty="0">
                <a:solidFill>
                  <a:srgbClr val="12233A"/>
                </a:solidFill>
                <a:latin typeface="Calibri" pitchFamily="34" charset="0"/>
                <a:ea typeface="Calibri" pitchFamily="34" charset="-122"/>
                <a:cs typeface="Calibri" pitchFamily="34" charset="-120"/>
              </a:rPr>
              <a:t>Nobody approved a node-pool PR after dinner.</a:t>
            </a:r>
            <a:endParaRPr lang="en-US" sz="1500" dirty="0"/>
          </a:p>
        </p:txBody>
      </p:sp>
      <p:sp>
        <p:nvSpPr>
          <p:cNvPr id="15" name="Shape 13"/>
          <p:cNvSpPr/>
          <p:nvPr/>
        </p:nvSpPr>
        <p:spPr>
          <a:xfrm>
            <a:off x="6263640" y="3529584"/>
            <a:ext cx="201168" cy="201168"/>
          </a:xfrm>
          <a:prstGeom prst="ellipse">
            <a:avLst/>
          </a:prstGeom>
          <a:solidFill>
            <a:srgbClr val="5BD68A"/>
          </a:solidFill>
          <a:ln w="12700">
            <a:solidFill>
              <a:srgbClr val="333333"/>
            </a:solidFill>
            <a:prstDash val="solid"/>
          </a:ln>
        </p:spPr>
      </p:sp>
      <p:sp>
        <p:nvSpPr>
          <p:cNvPr id="16" name="Text 14"/>
          <p:cNvSpPr/>
          <p:nvPr/>
        </p:nvSpPr>
        <p:spPr>
          <a:xfrm>
            <a:off x="6629400" y="3438144"/>
            <a:ext cx="5120640" cy="548640"/>
          </a:xfrm>
          <a:prstGeom prst="rect">
            <a:avLst/>
          </a:prstGeom>
          <a:noFill/>
          <a:ln/>
        </p:spPr>
        <p:txBody>
          <a:bodyPr wrap="square" rtlCol="0" anchor="ctr"/>
          <a:lstStyle/>
          <a:p>
            <a:pPr indent="0" marL="0">
              <a:buNone/>
            </a:pPr>
            <a:r>
              <a:rPr lang="en-US" sz="1500" dirty="0">
                <a:solidFill>
                  <a:srgbClr val="12233A"/>
                </a:solidFill>
                <a:latin typeface="Calibri" pitchFamily="34" charset="0"/>
                <a:ea typeface="Calibri" pitchFamily="34" charset="-122"/>
                <a:cs typeface="Calibri" pitchFamily="34" charset="-120"/>
              </a:rPr>
              <a:t>Nobody wrote "temporary" YAML that'd still be in production next quarter.</a:t>
            </a:r>
            <a:endParaRPr lang="en-US" sz="1500" dirty="0"/>
          </a:p>
        </p:txBody>
      </p:sp>
      <p:sp>
        <p:nvSpPr>
          <p:cNvPr id="17" name="Shape 15"/>
          <p:cNvSpPr/>
          <p:nvPr/>
        </p:nvSpPr>
        <p:spPr>
          <a:xfrm>
            <a:off x="6263640" y="4242816"/>
            <a:ext cx="201168" cy="201168"/>
          </a:xfrm>
          <a:prstGeom prst="ellipse">
            <a:avLst/>
          </a:prstGeom>
          <a:solidFill>
            <a:srgbClr val="5BD68A"/>
          </a:solidFill>
          <a:ln w="12700">
            <a:solidFill>
              <a:srgbClr val="333333"/>
            </a:solidFill>
            <a:prstDash val="solid"/>
          </a:ln>
        </p:spPr>
      </p:sp>
      <p:sp>
        <p:nvSpPr>
          <p:cNvPr id="18" name="Text 16"/>
          <p:cNvSpPr/>
          <p:nvPr/>
        </p:nvSpPr>
        <p:spPr>
          <a:xfrm>
            <a:off x="6629400" y="4151376"/>
            <a:ext cx="5120640" cy="548640"/>
          </a:xfrm>
          <a:prstGeom prst="rect">
            <a:avLst/>
          </a:prstGeom>
          <a:noFill/>
          <a:ln/>
        </p:spPr>
        <p:txBody>
          <a:bodyPr wrap="square" rtlCol="0" anchor="ctr"/>
          <a:lstStyle/>
          <a:p>
            <a:pPr indent="0" marL="0">
              <a:buNone/>
            </a:pPr>
            <a:r>
              <a:rPr lang="en-US" sz="1500" dirty="0">
                <a:solidFill>
                  <a:srgbClr val="12233A"/>
                </a:solidFill>
                <a:latin typeface="Calibri" pitchFamily="34" charset="0"/>
                <a:ea typeface="Calibri" pitchFamily="34" charset="-122"/>
                <a:cs typeface="Calibri" pitchFamily="34" charset="-120"/>
              </a:rPr>
              <a:t>No Monday-morning ticket asking "why did we burn a memory VM all weekend?"</a:t>
            </a:r>
            <a:endParaRPr lang="en-US" sz="1500" dirty="0"/>
          </a:p>
        </p:txBody>
      </p:sp>
      <p:sp>
        <p:nvSpPr>
          <p:cNvPr id="19" name="Shape 17"/>
          <p:cNvSpPr/>
          <p:nvPr/>
        </p:nvSpPr>
        <p:spPr>
          <a:xfrm>
            <a:off x="6263640" y="4956048"/>
            <a:ext cx="201168" cy="201168"/>
          </a:xfrm>
          <a:prstGeom prst="ellipse">
            <a:avLst/>
          </a:prstGeom>
          <a:solidFill>
            <a:srgbClr val="5BD68A"/>
          </a:solidFill>
          <a:ln w="12700">
            <a:solidFill>
              <a:srgbClr val="333333"/>
            </a:solidFill>
            <a:prstDash val="solid"/>
          </a:ln>
        </p:spPr>
      </p:sp>
      <p:sp>
        <p:nvSpPr>
          <p:cNvPr id="20" name="Text 18"/>
          <p:cNvSpPr/>
          <p:nvPr/>
        </p:nvSpPr>
        <p:spPr>
          <a:xfrm>
            <a:off x="6629400" y="4864608"/>
            <a:ext cx="5120640" cy="548640"/>
          </a:xfrm>
          <a:prstGeom prst="rect">
            <a:avLst/>
          </a:prstGeom>
          <a:noFill/>
          <a:ln/>
        </p:spPr>
        <p:txBody>
          <a:bodyPr wrap="square" rtlCol="0" anchor="ctr"/>
          <a:lstStyle/>
          <a:p>
            <a:pPr indent="0" marL="0">
              <a:buNone/>
            </a:pPr>
            <a:r>
              <a:rPr lang="en-US" sz="1500" dirty="0">
                <a:solidFill>
                  <a:srgbClr val="12233A"/>
                </a:solidFill>
                <a:latin typeface="Calibri" pitchFamily="34" charset="0"/>
                <a:ea typeface="Calibri" pitchFamily="34" charset="-122"/>
                <a:cs typeface="Calibri" pitchFamily="34" charset="-120"/>
              </a:rPr>
              <a:t>The on-call engineer slept.</a:t>
            </a:r>
            <a:endParaRPr lang="en-US" sz="1500" dirty="0"/>
          </a:p>
        </p:txBody>
      </p:sp>
      <p:sp>
        <p:nvSpPr>
          <p:cNvPr id="21" name="Text 19"/>
          <p:cNvSpPr/>
          <p:nvPr/>
        </p:nvSpPr>
        <p:spPr>
          <a:xfrm>
            <a:off x="6263640" y="5852160"/>
            <a:ext cx="5486400" cy="365760"/>
          </a:xfrm>
          <a:prstGeom prst="rect">
            <a:avLst/>
          </a:prstGeom>
          <a:noFill/>
          <a:ln/>
        </p:spPr>
        <p:txBody>
          <a:bodyPr wrap="square" rtlCol="0" anchor="ctr"/>
          <a:lstStyle/>
          <a:p>
            <a:pPr indent="0" marL="0">
              <a:buNone/>
            </a:pPr>
            <a:r>
              <a:rPr lang="en-US" sz="1400" i="1" dirty="0">
                <a:solidFill>
                  <a:srgbClr val="065A82"/>
                </a:solidFill>
                <a:latin typeface="Calibri" pitchFamily="34" charset="0"/>
                <a:ea typeface="Calibri" pitchFamily="34" charset="-122"/>
                <a:cs typeface="Calibri" pitchFamily="34" charset="-120"/>
              </a:rPr>
              <a:t>That is the actual savings. The dollars are the proof.</a:t>
            </a:r>
            <a:endParaRPr lang="en-US" sz="1400" dirty="0"/>
          </a:p>
        </p:txBody>
      </p:sp>
      <p:sp>
        <p:nvSpPr>
          <p:cNvPr id="22" name="Text 20"/>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23" name="Text 21"/>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12 / 14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777240" y="137160"/>
            <a:ext cx="9144000" cy="274320"/>
          </a:xfrm>
          <a:prstGeom prst="rect">
            <a:avLst/>
          </a:prstGeom>
          <a:noFill/>
          <a:ln/>
        </p:spPr>
        <p:txBody>
          <a:bodyPr wrap="square" rtlCol="0" anchor="ctr"/>
          <a:lstStyle/>
          <a:p>
            <a:pPr indent="0" marL="0">
              <a:buNone/>
            </a:pPr>
            <a:r>
              <a:rPr lang="en-US" sz="1100" b="1" spc="400" kern="0" dirty="0">
                <a:solidFill>
                  <a:srgbClr val="5EA0EF"/>
                </a:solidFill>
                <a:latin typeface="Calibri" pitchFamily="34" charset="0"/>
                <a:ea typeface="Calibri" pitchFamily="34" charset="-122"/>
                <a:cs typeface="Calibri" pitchFamily="34" charset="-120"/>
              </a:rPr>
              <a:t>WHAT THE LIVE DEMO WILL SHOW</a:t>
            </a:r>
            <a:endParaRPr lang="en-US" sz="1100" dirty="0"/>
          </a:p>
        </p:txBody>
      </p:sp>
      <p:sp>
        <p:nvSpPr>
          <p:cNvPr id="3" name="Shape 1"/>
          <p:cNvSpPr/>
          <p:nvPr/>
        </p:nvSpPr>
        <p:spPr>
          <a:xfrm>
            <a:off x="457200" y="411480"/>
            <a:ext cx="164592" cy="502920"/>
          </a:xfrm>
          <a:prstGeom prst="rect">
            <a:avLst/>
          </a:prstGeom>
          <a:solidFill>
            <a:srgbClr val="5EA0EF"/>
          </a:solidFill>
          <a:ln w="12700">
            <a:solidFill>
              <a:srgbClr val="5EA0EF"/>
            </a:solidFill>
            <a:prstDash val="solid"/>
          </a:ln>
        </p:spPr>
      </p:sp>
      <p:sp>
        <p:nvSpPr>
          <p:cNvPr id="4" name="Text 2"/>
          <p:cNvSpPr/>
          <p:nvPr/>
        </p:nvSpPr>
        <p:spPr>
          <a:xfrm>
            <a:off x="777240" y="365760"/>
            <a:ext cx="10972800" cy="640080"/>
          </a:xfrm>
          <a:prstGeom prst="rect">
            <a:avLst/>
          </a:prstGeom>
          <a:noFill/>
          <a:ln/>
        </p:spPr>
        <p:txBody>
          <a:bodyPr wrap="square" rtlCol="0" anchor="ctr"/>
          <a:lstStyle/>
          <a:p>
            <a:pPr indent="0" marL="0">
              <a:buNone/>
            </a:pPr>
            <a:r>
              <a:rPr lang="en-US" sz="3000" b="1" dirty="0">
                <a:solidFill>
                  <a:srgbClr val="12233A"/>
                </a:solidFill>
                <a:latin typeface="Calibri" pitchFamily="34" charset="0"/>
                <a:ea typeface="Calibri" pitchFamily="34" charset="-122"/>
                <a:cs typeface="Calibri" pitchFamily="34" charset="-120"/>
              </a:rPr>
              <a:t>The demo in 3 acts</a:t>
            </a:r>
            <a:endParaRPr lang="en-US" sz="3000" dirty="0"/>
          </a:p>
        </p:txBody>
      </p:sp>
      <p:sp>
        <p:nvSpPr>
          <p:cNvPr id="5" name="Shape 3"/>
          <p:cNvSpPr/>
          <p:nvPr/>
        </p:nvSpPr>
        <p:spPr>
          <a:xfrm>
            <a:off x="457200" y="1371600"/>
            <a:ext cx="11247120" cy="1417320"/>
          </a:xfrm>
          <a:prstGeom prst="roundRect">
            <a:avLst>
              <a:gd name="adj" fmla="val 6452"/>
            </a:avLst>
          </a:prstGeom>
          <a:solidFill>
            <a:srgbClr val="FFFFFF"/>
          </a:solidFill>
          <a:ln w="12700">
            <a:solidFill>
              <a:srgbClr val="E1E6EE"/>
            </a:solidFill>
            <a:prstDash val="solid"/>
          </a:ln>
        </p:spPr>
      </p:sp>
      <p:sp>
        <p:nvSpPr>
          <p:cNvPr id="6" name="Shape 4"/>
          <p:cNvSpPr/>
          <p:nvPr/>
        </p:nvSpPr>
        <p:spPr>
          <a:xfrm>
            <a:off x="457200" y="1371600"/>
            <a:ext cx="164592" cy="1417320"/>
          </a:xfrm>
          <a:prstGeom prst="rect">
            <a:avLst/>
          </a:prstGeom>
          <a:solidFill>
            <a:srgbClr val="5EA0EF"/>
          </a:solidFill>
          <a:ln w="12700">
            <a:solidFill>
              <a:srgbClr val="333333"/>
            </a:solidFill>
            <a:prstDash val="solid"/>
          </a:ln>
        </p:spPr>
      </p:sp>
      <p:sp>
        <p:nvSpPr>
          <p:cNvPr id="7" name="Text 5"/>
          <p:cNvSpPr/>
          <p:nvPr/>
        </p:nvSpPr>
        <p:spPr>
          <a:xfrm>
            <a:off x="777240" y="1508760"/>
            <a:ext cx="1371600" cy="365760"/>
          </a:xfrm>
          <a:prstGeom prst="rect">
            <a:avLst/>
          </a:prstGeom>
          <a:noFill/>
          <a:ln/>
        </p:spPr>
        <p:txBody>
          <a:bodyPr wrap="square" rtlCol="0" anchor="ctr"/>
          <a:lstStyle/>
          <a:p>
            <a:pPr indent="0" marL="0">
              <a:buNone/>
            </a:pPr>
            <a:r>
              <a:rPr lang="en-US" sz="1400" b="1" spc="300" kern="0" dirty="0">
                <a:solidFill>
                  <a:srgbClr val="5EA0EF"/>
                </a:solidFill>
                <a:latin typeface="Calibri" pitchFamily="34" charset="0"/>
                <a:ea typeface="Calibri" pitchFamily="34" charset="-122"/>
                <a:cs typeface="Calibri" pitchFamily="34" charset="-120"/>
              </a:rPr>
              <a:t>ACT 1</a:t>
            </a:r>
            <a:endParaRPr lang="en-US" sz="1400" dirty="0"/>
          </a:p>
        </p:txBody>
      </p:sp>
      <p:sp>
        <p:nvSpPr>
          <p:cNvPr id="8" name="Text 6"/>
          <p:cNvSpPr/>
          <p:nvPr/>
        </p:nvSpPr>
        <p:spPr>
          <a:xfrm>
            <a:off x="777240" y="1828800"/>
            <a:ext cx="6400800" cy="457200"/>
          </a:xfrm>
          <a:prstGeom prst="rect">
            <a:avLst/>
          </a:prstGeom>
          <a:noFill/>
          <a:ln/>
        </p:spPr>
        <p:txBody>
          <a:bodyPr wrap="square" rtlCol="0" anchor="ctr"/>
          <a:lstStyle/>
          <a:p>
            <a:pPr indent="0" marL="0">
              <a:buNone/>
            </a:pPr>
            <a:r>
              <a:rPr lang="en-US" sz="1800" b="1" dirty="0">
                <a:solidFill>
                  <a:srgbClr val="12233A"/>
                </a:solidFill>
                <a:latin typeface="Calibri" pitchFamily="34" charset="0"/>
                <a:ea typeface="Calibri" pitchFamily="34" charset="-122"/>
                <a:cs typeface="Calibri" pitchFamily="34" charset="-120"/>
              </a:rPr>
              <a:t>"What VM do I pick?"</a:t>
            </a:r>
            <a:endParaRPr lang="en-US" sz="1800" dirty="0"/>
          </a:p>
        </p:txBody>
      </p:sp>
      <p:sp>
        <p:nvSpPr>
          <p:cNvPr id="9" name="Text 7"/>
          <p:cNvSpPr/>
          <p:nvPr/>
        </p:nvSpPr>
        <p:spPr>
          <a:xfrm>
            <a:off x="777240" y="2286000"/>
            <a:ext cx="6858000" cy="45720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Apply one NodePool YAML. Deploy a small workload. Karpenter picks Standard_D8ls_v5 — you didn't ask for it.</a:t>
            </a:r>
            <a:endParaRPr lang="en-US" sz="1200" dirty="0"/>
          </a:p>
        </p:txBody>
      </p:sp>
      <p:sp>
        <p:nvSpPr>
          <p:cNvPr id="10" name="Text 8"/>
          <p:cNvSpPr/>
          <p:nvPr/>
        </p:nvSpPr>
        <p:spPr>
          <a:xfrm>
            <a:off x="7863840" y="1874520"/>
            <a:ext cx="3657600" cy="640080"/>
          </a:xfrm>
          <a:prstGeom prst="rect">
            <a:avLst/>
          </a:prstGeom>
          <a:noFill/>
          <a:ln/>
        </p:spPr>
        <p:txBody>
          <a:bodyPr wrap="square" rtlCol="0" anchor="ctr"/>
          <a:lstStyle/>
          <a:p>
            <a:pPr indent="0" marL="0">
              <a:buNone/>
            </a:pPr>
            <a:r>
              <a:rPr lang="en-US" sz="1400" b="1" i="1" dirty="0">
                <a:solidFill>
                  <a:srgbClr val="065A82"/>
                </a:solidFill>
                <a:latin typeface="Calibri" pitchFamily="34" charset="0"/>
                <a:ea typeface="Calibri" pitchFamily="34" charset="-122"/>
                <a:cs typeface="Calibri" pitchFamily="34" charset="-120"/>
              </a:rPr>
              <a:t>⏸ "I never typed D8ls_v5."</a:t>
            </a:r>
            <a:endParaRPr lang="en-US" sz="1400" dirty="0"/>
          </a:p>
        </p:txBody>
      </p:sp>
      <p:sp>
        <p:nvSpPr>
          <p:cNvPr id="11" name="Shape 9"/>
          <p:cNvSpPr/>
          <p:nvPr/>
        </p:nvSpPr>
        <p:spPr>
          <a:xfrm>
            <a:off x="457200" y="2971800"/>
            <a:ext cx="11247120" cy="1417320"/>
          </a:xfrm>
          <a:prstGeom prst="roundRect">
            <a:avLst>
              <a:gd name="adj" fmla="val 6452"/>
            </a:avLst>
          </a:prstGeom>
          <a:solidFill>
            <a:srgbClr val="FFFFFF"/>
          </a:solidFill>
          <a:ln w="12700">
            <a:solidFill>
              <a:srgbClr val="E1E6EE"/>
            </a:solidFill>
            <a:prstDash val="solid"/>
          </a:ln>
        </p:spPr>
      </p:sp>
      <p:sp>
        <p:nvSpPr>
          <p:cNvPr id="12" name="Shape 10"/>
          <p:cNvSpPr/>
          <p:nvPr/>
        </p:nvSpPr>
        <p:spPr>
          <a:xfrm>
            <a:off x="457200" y="2971800"/>
            <a:ext cx="164592" cy="1417320"/>
          </a:xfrm>
          <a:prstGeom prst="rect">
            <a:avLst/>
          </a:prstGeom>
          <a:solidFill>
            <a:srgbClr val="E8893D"/>
          </a:solidFill>
          <a:ln w="12700">
            <a:solidFill>
              <a:srgbClr val="333333"/>
            </a:solidFill>
            <a:prstDash val="solid"/>
          </a:ln>
        </p:spPr>
      </p:sp>
      <p:sp>
        <p:nvSpPr>
          <p:cNvPr id="13" name="Text 11"/>
          <p:cNvSpPr/>
          <p:nvPr/>
        </p:nvSpPr>
        <p:spPr>
          <a:xfrm>
            <a:off x="777240" y="3108960"/>
            <a:ext cx="1371600" cy="365760"/>
          </a:xfrm>
          <a:prstGeom prst="rect">
            <a:avLst/>
          </a:prstGeom>
          <a:noFill/>
          <a:ln/>
        </p:spPr>
        <p:txBody>
          <a:bodyPr wrap="square" rtlCol="0" anchor="ctr"/>
          <a:lstStyle/>
          <a:p>
            <a:pPr indent="0" marL="0">
              <a:buNone/>
            </a:pPr>
            <a:r>
              <a:rPr lang="en-US" sz="1400" b="1" spc="300" kern="0" dirty="0">
                <a:solidFill>
                  <a:srgbClr val="E8893D"/>
                </a:solidFill>
                <a:latin typeface="Calibri" pitchFamily="34" charset="0"/>
                <a:ea typeface="Calibri" pitchFamily="34" charset="-122"/>
                <a:cs typeface="Calibri" pitchFamily="34" charset="-120"/>
              </a:rPr>
              <a:t>ACT 2</a:t>
            </a:r>
            <a:endParaRPr lang="en-US" sz="1400" dirty="0"/>
          </a:p>
        </p:txBody>
      </p:sp>
      <p:sp>
        <p:nvSpPr>
          <p:cNvPr id="14" name="Text 12"/>
          <p:cNvSpPr/>
          <p:nvPr/>
        </p:nvSpPr>
        <p:spPr>
          <a:xfrm>
            <a:off x="777240" y="3429000"/>
            <a:ext cx="6400800" cy="457200"/>
          </a:xfrm>
          <a:prstGeom prst="rect">
            <a:avLst/>
          </a:prstGeom>
          <a:noFill/>
          <a:ln/>
        </p:spPr>
        <p:txBody>
          <a:bodyPr wrap="square" rtlCol="0" anchor="ctr"/>
          <a:lstStyle/>
          <a:p>
            <a:pPr indent="0" marL="0">
              <a:buNone/>
            </a:pPr>
            <a:r>
              <a:rPr lang="en-US" sz="1800" b="1" dirty="0">
                <a:solidFill>
                  <a:srgbClr val="12233A"/>
                </a:solidFill>
                <a:latin typeface="Calibri" pitchFamily="34" charset="0"/>
                <a:ea typeface="Calibri" pitchFamily="34" charset="-122"/>
                <a:cs typeface="Calibri" pitchFamily="34" charset="-120"/>
              </a:rPr>
              <a:t>"The marketing email dropped."</a:t>
            </a:r>
            <a:endParaRPr lang="en-US" sz="1800" dirty="0"/>
          </a:p>
        </p:txBody>
      </p:sp>
      <p:sp>
        <p:nvSpPr>
          <p:cNvPr id="15" name="Text 13"/>
          <p:cNvSpPr/>
          <p:nvPr/>
        </p:nvSpPr>
        <p:spPr>
          <a:xfrm>
            <a:off x="777240" y="3886200"/>
            <a:ext cx="6858000" cy="45720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Add a memory-heavy recommender + scale shop 5×. Karpenter switches to Standard_E16s_v5 (different family). AGC routes new traffic to cool pods.</a:t>
            </a:r>
            <a:endParaRPr lang="en-US" sz="1200" dirty="0"/>
          </a:p>
        </p:txBody>
      </p:sp>
      <p:sp>
        <p:nvSpPr>
          <p:cNvPr id="16" name="Text 14"/>
          <p:cNvSpPr/>
          <p:nvPr/>
        </p:nvSpPr>
        <p:spPr>
          <a:xfrm>
            <a:off x="7863840" y="3474720"/>
            <a:ext cx="3657600" cy="640080"/>
          </a:xfrm>
          <a:prstGeom prst="rect">
            <a:avLst/>
          </a:prstGeom>
          <a:noFill/>
          <a:ln/>
        </p:spPr>
        <p:txBody>
          <a:bodyPr wrap="square" rtlCol="0" anchor="ctr"/>
          <a:lstStyle/>
          <a:p>
            <a:pPr indent="0" marL="0">
              <a:buNone/>
            </a:pPr>
            <a:r>
              <a:rPr lang="en-US" sz="1400" b="1" i="1" dirty="0">
                <a:solidFill>
                  <a:srgbClr val="065A82"/>
                </a:solidFill>
                <a:latin typeface="Calibri" pitchFamily="34" charset="0"/>
                <a:ea typeface="Calibri" pitchFamily="34" charset="-122"/>
                <a:cs typeface="Calibri" pitchFamily="34" charset="-120"/>
              </a:rPr>
              <a:t>⏸ "Different family. No second YAML."</a:t>
            </a:r>
            <a:endParaRPr lang="en-US" sz="1400" dirty="0"/>
          </a:p>
        </p:txBody>
      </p:sp>
      <p:sp>
        <p:nvSpPr>
          <p:cNvPr id="17" name="Shape 15"/>
          <p:cNvSpPr/>
          <p:nvPr/>
        </p:nvSpPr>
        <p:spPr>
          <a:xfrm>
            <a:off x="457200" y="4572000"/>
            <a:ext cx="11247120" cy="1417320"/>
          </a:xfrm>
          <a:prstGeom prst="roundRect">
            <a:avLst>
              <a:gd name="adj" fmla="val 6452"/>
            </a:avLst>
          </a:prstGeom>
          <a:solidFill>
            <a:srgbClr val="FFFFFF"/>
          </a:solidFill>
          <a:ln w="12700">
            <a:solidFill>
              <a:srgbClr val="E1E6EE"/>
            </a:solidFill>
            <a:prstDash val="solid"/>
          </a:ln>
        </p:spPr>
      </p:sp>
      <p:sp>
        <p:nvSpPr>
          <p:cNvPr id="18" name="Shape 16"/>
          <p:cNvSpPr/>
          <p:nvPr/>
        </p:nvSpPr>
        <p:spPr>
          <a:xfrm>
            <a:off x="457200" y="4572000"/>
            <a:ext cx="164592" cy="1417320"/>
          </a:xfrm>
          <a:prstGeom prst="rect">
            <a:avLst/>
          </a:prstGeom>
          <a:solidFill>
            <a:srgbClr val="5BD68A"/>
          </a:solidFill>
          <a:ln w="12700">
            <a:solidFill>
              <a:srgbClr val="333333"/>
            </a:solidFill>
            <a:prstDash val="solid"/>
          </a:ln>
        </p:spPr>
      </p:sp>
      <p:sp>
        <p:nvSpPr>
          <p:cNvPr id="19" name="Text 17"/>
          <p:cNvSpPr/>
          <p:nvPr/>
        </p:nvSpPr>
        <p:spPr>
          <a:xfrm>
            <a:off x="777240" y="4709160"/>
            <a:ext cx="1371600" cy="365760"/>
          </a:xfrm>
          <a:prstGeom prst="rect">
            <a:avLst/>
          </a:prstGeom>
          <a:noFill/>
          <a:ln/>
        </p:spPr>
        <p:txBody>
          <a:bodyPr wrap="square" rtlCol="0" anchor="ctr"/>
          <a:lstStyle/>
          <a:p>
            <a:pPr indent="0" marL="0">
              <a:buNone/>
            </a:pPr>
            <a:r>
              <a:rPr lang="en-US" sz="1400" b="1" spc="300" kern="0" dirty="0">
                <a:solidFill>
                  <a:srgbClr val="5BD68A"/>
                </a:solidFill>
                <a:latin typeface="Calibri" pitchFamily="34" charset="0"/>
                <a:ea typeface="Calibri" pitchFamily="34" charset="-122"/>
                <a:cs typeface="Calibri" pitchFamily="34" charset="-120"/>
              </a:rPr>
              <a:t>ACT 3</a:t>
            </a:r>
            <a:endParaRPr lang="en-US" sz="1400" dirty="0"/>
          </a:p>
        </p:txBody>
      </p:sp>
      <p:sp>
        <p:nvSpPr>
          <p:cNvPr id="20" name="Text 18"/>
          <p:cNvSpPr/>
          <p:nvPr/>
        </p:nvSpPr>
        <p:spPr>
          <a:xfrm>
            <a:off x="777240" y="5029200"/>
            <a:ext cx="6400800" cy="457200"/>
          </a:xfrm>
          <a:prstGeom prst="rect">
            <a:avLst/>
          </a:prstGeom>
          <a:noFill/>
          <a:ln/>
        </p:spPr>
        <p:txBody>
          <a:bodyPr wrap="square" rtlCol="0" anchor="ctr"/>
          <a:lstStyle/>
          <a:p>
            <a:pPr indent="0" marL="0">
              <a:buNone/>
            </a:pPr>
            <a:r>
              <a:rPr lang="en-US" sz="1800" b="1" dirty="0">
                <a:solidFill>
                  <a:srgbClr val="12233A"/>
                </a:solidFill>
                <a:latin typeface="Calibri" pitchFamily="34" charset="0"/>
                <a:ea typeface="Calibri" pitchFamily="34" charset="-122"/>
                <a:cs typeface="Calibri" pitchFamily="34" charset="-120"/>
              </a:rPr>
              <a:t>"Where does the cost go?"</a:t>
            </a:r>
            <a:endParaRPr lang="en-US" sz="1800" dirty="0"/>
          </a:p>
        </p:txBody>
      </p:sp>
      <p:sp>
        <p:nvSpPr>
          <p:cNvPr id="21" name="Text 19"/>
          <p:cNvSpPr/>
          <p:nvPr/>
        </p:nvSpPr>
        <p:spPr>
          <a:xfrm>
            <a:off x="777240" y="5486400"/>
            <a:ext cx="6858000" cy="457200"/>
          </a:xfrm>
          <a:prstGeom prst="rect">
            <a:avLst/>
          </a:prstGeom>
          <a:noFill/>
          <a:ln/>
        </p:spPr>
        <p:txBody>
          <a:bodyPr wrap="square" rtlCol="0" anchor="ctr"/>
          <a:lstStyle/>
          <a:p>
            <a:pPr indent="0" marL="0">
              <a:buNone/>
            </a:pPr>
            <a:r>
              <a:rPr lang="en-US" sz="1200" dirty="0">
                <a:solidFill>
                  <a:srgbClr val="12233A"/>
                </a:solidFill>
                <a:latin typeface="Calibri" pitchFamily="34" charset="0"/>
                <a:ea typeface="Calibri" pitchFamily="34" charset="-122"/>
                <a:cs typeface="Calibri" pitchFamily="34" charset="-120"/>
              </a:rPr>
              <a:t>Scale back down. Karpenter consolidates and deletes the E16s. Steady-state cluster. Bill stops.</a:t>
            </a:r>
            <a:endParaRPr lang="en-US" sz="1200" dirty="0"/>
          </a:p>
        </p:txBody>
      </p:sp>
      <p:sp>
        <p:nvSpPr>
          <p:cNvPr id="22" name="Text 20"/>
          <p:cNvSpPr/>
          <p:nvPr/>
        </p:nvSpPr>
        <p:spPr>
          <a:xfrm>
            <a:off x="7863840" y="5074920"/>
            <a:ext cx="3657600" cy="640080"/>
          </a:xfrm>
          <a:prstGeom prst="rect">
            <a:avLst/>
          </a:prstGeom>
          <a:noFill/>
          <a:ln/>
        </p:spPr>
        <p:txBody>
          <a:bodyPr wrap="square" rtlCol="0" anchor="ctr"/>
          <a:lstStyle/>
          <a:p>
            <a:pPr indent="0" marL="0">
              <a:buNone/>
            </a:pPr>
            <a:r>
              <a:rPr lang="en-US" sz="1400" b="1" i="1" dirty="0">
                <a:solidFill>
                  <a:srgbClr val="065A82"/>
                </a:solidFill>
                <a:latin typeface="Calibri" pitchFamily="34" charset="0"/>
                <a:ea typeface="Calibri" pitchFamily="34" charset="-122"/>
                <a:cs typeface="Calibri" pitchFamily="34" charset="-120"/>
              </a:rPr>
              <a:t>⏸ "Nobody got paged."</a:t>
            </a:r>
            <a:endParaRPr lang="en-US" sz="1400" dirty="0"/>
          </a:p>
        </p:txBody>
      </p:sp>
      <p:sp>
        <p:nvSpPr>
          <p:cNvPr id="23" name="Text 21"/>
          <p:cNvSpPr/>
          <p:nvPr/>
        </p:nvSpPr>
        <p:spPr>
          <a:xfrm>
            <a:off x="457200" y="6446520"/>
            <a:ext cx="5486400" cy="274320"/>
          </a:xfrm>
          <a:prstGeom prst="rect">
            <a:avLst/>
          </a:prstGeom>
          <a:noFill/>
          <a:ln/>
        </p:spPr>
        <p:txBody>
          <a:bodyPr wrap="square" rtlCol="0" anchor="ctr"/>
          <a:lstStyle/>
          <a:p>
            <a:pPr indent="0" marL="0">
              <a:buNone/>
            </a:pPr>
            <a:r>
              <a:rPr lang="en-US" sz="1000" dirty="0">
                <a:solidFill>
                  <a:srgbClr val="7A8A9E"/>
                </a:solidFill>
                <a:latin typeface="Calibri" pitchFamily="34" charset="0"/>
                <a:ea typeface="Calibri" pitchFamily="34" charset="-122"/>
                <a:cs typeface="Calibri" pitchFamily="34" charset="-120"/>
              </a:rPr>
              <a:t>AGC + NAP · Beginner companion</a:t>
            </a:r>
            <a:endParaRPr lang="en-US" sz="1000" dirty="0"/>
          </a:p>
        </p:txBody>
      </p:sp>
      <p:sp>
        <p:nvSpPr>
          <p:cNvPr id="24" name="Text 22"/>
          <p:cNvSpPr/>
          <p:nvPr/>
        </p:nvSpPr>
        <p:spPr>
          <a:xfrm>
            <a:off x="11247120" y="6446520"/>
            <a:ext cx="548640" cy="274320"/>
          </a:xfrm>
          <a:prstGeom prst="rect">
            <a:avLst/>
          </a:prstGeom>
          <a:noFill/>
          <a:ln/>
        </p:spPr>
        <p:txBody>
          <a:bodyPr wrap="square" rtlCol="0" anchor="ctr"/>
          <a:lstStyle/>
          <a:p>
            <a:pPr algn="r" indent="0" marL="0">
              <a:buNone/>
            </a:pPr>
            <a:r>
              <a:rPr lang="en-US" sz="1000" dirty="0">
                <a:solidFill>
                  <a:srgbClr val="7A8A9E"/>
                </a:solidFill>
                <a:latin typeface="Calibri" pitchFamily="34" charset="0"/>
                <a:ea typeface="Calibri" pitchFamily="34" charset="-122"/>
                <a:cs typeface="Calibri" pitchFamily="34" charset="-120"/>
              </a:rPr>
              <a:t>13 / 14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238"/>
        </a:solidFill>
      </p:bgPr>
    </p:bg>
    <p:spTree>
      <p:nvGrpSpPr>
        <p:cNvPr id="1" name=""/>
        <p:cNvGrpSpPr/>
        <p:nvPr/>
      </p:nvGrpSpPr>
      <p:grpSpPr>
        <a:xfrm>
          <a:off x="0" y="0"/>
          <a:ext cx="0" cy="0"/>
          <a:chOff x="0" y="0"/>
          <a:chExt cx="0" cy="0"/>
        </a:xfrm>
      </p:grpSpPr>
      <p:sp>
        <p:nvSpPr>
          <p:cNvPr id="2" name="Text 0"/>
          <p:cNvSpPr/>
          <p:nvPr/>
        </p:nvSpPr>
        <p:spPr>
          <a:xfrm>
            <a:off x="457200" y="274320"/>
            <a:ext cx="11247120" cy="365760"/>
          </a:xfrm>
          <a:prstGeom prst="rect">
            <a:avLst/>
          </a:prstGeom>
          <a:noFill/>
          <a:ln/>
        </p:spPr>
        <p:txBody>
          <a:bodyPr wrap="square" rtlCol="0" anchor="ctr"/>
          <a:lstStyle/>
          <a:p>
            <a:pPr indent="0" marL="0">
              <a:buNone/>
            </a:pPr>
            <a:r>
              <a:rPr lang="en-US" sz="1400" b="1" spc="400" kern="0" dirty="0">
                <a:solidFill>
                  <a:srgbClr val="5EA0EF"/>
                </a:solidFill>
                <a:latin typeface="Calibri" pitchFamily="34" charset="0"/>
                <a:ea typeface="Calibri" pitchFamily="34" charset="-122"/>
                <a:cs typeface="Calibri" pitchFamily="34" charset="-120"/>
              </a:rPr>
              <a:t>TAKEAWAYS</a:t>
            </a:r>
            <a:endParaRPr lang="en-US" sz="1400" dirty="0"/>
          </a:p>
        </p:txBody>
      </p:sp>
      <p:sp>
        <p:nvSpPr>
          <p:cNvPr id="3" name="Text 1"/>
          <p:cNvSpPr/>
          <p:nvPr/>
        </p:nvSpPr>
        <p:spPr>
          <a:xfrm>
            <a:off x="457200" y="685800"/>
            <a:ext cx="11247120" cy="64008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NAP for compute. AGC for traffic.</a:t>
            </a:r>
            <a:endParaRPr lang="en-US" sz="32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Together, your AKS cluster becomes a self-managing platform — and your team gets their evenings back.</a:t>
            </a:r>
            <a:endParaRPr lang="en-US" sz="1600" dirty="0"/>
          </a:p>
        </p:txBody>
      </p:sp>
      <p:sp>
        <p:nvSpPr>
          <p:cNvPr id="5" name="Shape 3"/>
          <p:cNvSpPr/>
          <p:nvPr/>
        </p:nvSpPr>
        <p:spPr>
          <a:xfrm>
            <a:off x="457200" y="2286000"/>
            <a:ext cx="2606040" cy="2103120"/>
          </a:xfrm>
          <a:prstGeom prst="roundRect">
            <a:avLst>
              <a:gd name="adj" fmla="val 4348"/>
            </a:avLst>
          </a:prstGeom>
          <a:solidFill>
            <a:srgbClr val="13314D"/>
          </a:solidFill>
          <a:ln w="12700">
            <a:solidFill>
              <a:srgbClr val="065A82"/>
            </a:solidFill>
            <a:prstDash val="solid"/>
          </a:ln>
        </p:spPr>
      </p:sp>
      <p:sp>
        <p:nvSpPr>
          <p:cNvPr id="6" name="Shape 4"/>
          <p:cNvSpPr/>
          <p:nvPr/>
        </p:nvSpPr>
        <p:spPr>
          <a:xfrm>
            <a:off x="457200" y="2286000"/>
            <a:ext cx="2606040" cy="109728"/>
          </a:xfrm>
          <a:prstGeom prst="rect">
            <a:avLst/>
          </a:prstGeom>
          <a:solidFill>
            <a:srgbClr val="5EA0EF"/>
          </a:solidFill>
          <a:ln w="12700">
            <a:solidFill>
              <a:srgbClr val="333333"/>
            </a:solidFill>
            <a:prstDash val="solid"/>
          </a:ln>
        </p:spPr>
      </p:sp>
      <p:sp>
        <p:nvSpPr>
          <p:cNvPr id="7" name="Text 5"/>
          <p:cNvSpPr/>
          <p:nvPr/>
        </p:nvSpPr>
        <p:spPr>
          <a:xfrm>
            <a:off x="685800" y="2514600"/>
            <a:ext cx="214884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Don't guess SKUs</a:t>
            </a:r>
            <a:endParaRPr lang="en-US" sz="1600" dirty="0"/>
          </a:p>
        </p:txBody>
      </p:sp>
      <p:sp>
        <p:nvSpPr>
          <p:cNvPr id="8" name="Text 6"/>
          <p:cNvSpPr/>
          <p:nvPr/>
        </p:nvSpPr>
        <p:spPr>
          <a:xfrm>
            <a:off x="685800" y="3200400"/>
            <a:ext cx="2148840" cy="10972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Give Karpenter a family menu, not a VM list.</a:t>
            </a:r>
            <a:endParaRPr lang="en-US" sz="1200" dirty="0"/>
          </a:p>
        </p:txBody>
      </p:sp>
      <p:sp>
        <p:nvSpPr>
          <p:cNvPr id="9" name="Shape 7"/>
          <p:cNvSpPr/>
          <p:nvPr/>
        </p:nvSpPr>
        <p:spPr>
          <a:xfrm>
            <a:off x="3337560" y="2286000"/>
            <a:ext cx="2606040" cy="2103120"/>
          </a:xfrm>
          <a:prstGeom prst="roundRect">
            <a:avLst>
              <a:gd name="adj" fmla="val 4348"/>
            </a:avLst>
          </a:prstGeom>
          <a:solidFill>
            <a:srgbClr val="13314D"/>
          </a:solidFill>
          <a:ln w="12700">
            <a:solidFill>
              <a:srgbClr val="065A82"/>
            </a:solidFill>
            <a:prstDash val="solid"/>
          </a:ln>
        </p:spPr>
      </p:sp>
      <p:sp>
        <p:nvSpPr>
          <p:cNvPr id="10" name="Shape 8"/>
          <p:cNvSpPr/>
          <p:nvPr/>
        </p:nvSpPr>
        <p:spPr>
          <a:xfrm>
            <a:off x="3337560" y="2286000"/>
            <a:ext cx="2606040" cy="109728"/>
          </a:xfrm>
          <a:prstGeom prst="rect">
            <a:avLst/>
          </a:prstGeom>
          <a:solidFill>
            <a:srgbClr val="5EA0EF"/>
          </a:solidFill>
          <a:ln w="12700">
            <a:solidFill>
              <a:srgbClr val="333333"/>
            </a:solidFill>
            <a:prstDash val="solid"/>
          </a:ln>
        </p:spPr>
      </p:sp>
      <p:sp>
        <p:nvSpPr>
          <p:cNvPr id="11" name="Text 9"/>
          <p:cNvSpPr/>
          <p:nvPr/>
        </p:nvSpPr>
        <p:spPr>
          <a:xfrm>
            <a:off x="3566160" y="2514600"/>
            <a:ext cx="214884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Don't pre-buy capacity</a:t>
            </a:r>
            <a:endParaRPr lang="en-US" sz="1600" dirty="0"/>
          </a:p>
        </p:txBody>
      </p:sp>
      <p:sp>
        <p:nvSpPr>
          <p:cNvPr id="12" name="Text 10"/>
          <p:cNvSpPr/>
          <p:nvPr/>
        </p:nvSpPr>
        <p:spPr>
          <a:xfrm>
            <a:off x="3566160" y="3200400"/>
            <a:ext cx="2148840" cy="10972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NAP only acts on real Pending pods.</a:t>
            </a:r>
            <a:endParaRPr lang="en-US" sz="1200" dirty="0"/>
          </a:p>
        </p:txBody>
      </p:sp>
      <p:sp>
        <p:nvSpPr>
          <p:cNvPr id="13" name="Shape 11"/>
          <p:cNvSpPr/>
          <p:nvPr/>
        </p:nvSpPr>
        <p:spPr>
          <a:xfrm>
            <a:off x="6217920" y="2286000"/>
            <a:ext cx="2606040" cy="2103120"/>
          </a:xfrm>
          <a:prstGeom prst="roundRect">
            <a:avLst>
              <a:gd name="adj" fmla="val 4348"/>
            </a:avLst>
          </a:prstGeom>
          <a:solidFill>
            <a:srgbClr val="13314D"/>
          </a:solidFill>
          <a:ln w="12700">
            <a:solidFill>
              <a:srgbClr val="065A82"/>
            </a:solidFill>
            <a:prstDash val="solid"/>
          </a:ln>
        </p:spPr>
      </p:sp>
      <p:sp>
        <p:nvSpPr>
          <p:cNvPr id="14" name="Shape 12"/>
          <p:cNvSpPr/>
          <p:nvPr/>
        </p:nvSpPr>
        <p:spPr>
          <a:xfrm>
            <a:off x="6217920" y="2286000"/>
            <a:ext cx="2606040" cy="109728"/>
          </a:xfrm>
          <a:prstGeom prst="rect">
            <a:avLst/>
          </a:prstGeom>
          <a:solidFill>
            <a:srgbClr val="5EA0EF"/>
          </a:solidFill>
          <a:ln w="12700">
            <a:solidFill>
              <a:srgbClr val="333333"/>
            </a:solidFill>
            <a:prstDash val="solid"/>
          </a:ln>
        </p:spPr>
      </p:sp>
      <p:sp>
        <p:nvSpPr>
          <p:cNvPr id="15" name="Text 13"/>
          <p:cNvSpPr/>
          <p:nvPr/>
        </p:nvSpPr>
        <p:spPr>
          <a:xfrm>
            <a:off x="6446520" y="2514600"/>
            <a:ext cx="214884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Don't round-robin</a:t>
            </a:r>
            <a:endParaRPr lang="en-US" sz="1600" dirty="0"/>
          </a:p>
        </p:txBody>
      </p:sp>
      <p:sp>
        <p:nvSpPr>
          <p:cNvPr id="16" name="Text 14"/>
          <p:cNvSpPr/>
          <p:nvPr/>
        </p:nvSpPr>
        <p:spPr>
          <a:xfrm>
            <a:off x="6446520" y="3200400"/>
            <a:ext cx="2148840" cy="10972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AGC routes new traffic to cool pods first.</a:t>
            </a:r>
            <a:endParaRPr lang="en-US" sz="1200" dirty="0"/>
          </a:p>
        </p:txBody>
      </p:sp>
      <p:sp>
        <p:nvSpPr>
          <p:cNvPr id="17" name="Shape 15"/>
          <p:cNvSpPr/>
          <p:nvPr/>
        </p:nvSpPr>
        <p:spPr>
          <a:xfrm>
            <a:off x="9098280" y="2286000"/>
            <a:ext cx="2606040" cy="2103120"/>
          </a:xfrm>
          <a:prstGeom prst="roundRect">
            <a:avLst>
              <a:gd name="adj" fmla="val 4348"/>
            </a:avLst>
          </a:prstGeom>
          <a:solidFill>
            <a:srgbClr val="13314D"/>
          </a:solidFill>
          <a:ln w="12700">
            <a:solidFill>
              <a:srgbClr val="065A82"/>
            </a:solidFill>
            <a:prstDash val="solid"/>
          </a:ln>
        </p:spPr>
      </p:sp>
      <p:sp>
        <p:nvSpPr>
          <p:cNvPr id="18" name="Shape 16"/>
          <p:cNvSpPr/>
          <p:nvPr/>
        </p:nvSpPr>
        <p:spPr>
          <a:xfrm>
            <a:off x="9098280" y="2286000"/>
            <a:ext cx="2606040" cy="109728"/>
          </a:xfrm>
          <a:prstGeom prst="rect">
            <a:avLst/>
          </a:prstGeom>
          <a:solidFill>
            <a:srgbClr val="5EA0EF"/>
          </a:solidFill>
          <a:ln w="12700">
            <a:solidFill>
              <a:srgbClr val="333333"/>
            </a:solidFill>
            <a:prstDash val="solid"/>
          </a:ln>
        </p:spPr>
      </p:sp>
      <p:sp>
        <p:nvSpPr>
          <p:cNvPr id="19" name="Text 17"/>
          <p:cNvSpPr/>
          <p:nvPr/>
        </p:nvSpPr>
        <p:spPr>
          <a:xfrm>
            <a:off x="9326880" y="2514600"/>
            <a:ext cx="214884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Don't pay all night</a:t>
            </a:r>
            <a:endParaRPr lang="en-US" sz="1600" dirty="0"/>
          </a:p>
        </p:txBody>
      </p:sp>
      <p:sp>
        <p:nvSpPr>
          <p:cNvPr id="20" name="Text 18"/>
          <p:cNvSpPr/>
          <p:nvPr/>
        </p:nvSpPr>
        <p:spPr>
          <a:xfrm>
            <a:off x="9326880" y="3200400"/>
            <a:ext cx="2148840" cy="109728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Consolidation reclaims idle nodes within minutes.</a:t>
            </a:r>
            <a:endParaRPr lang="en-US" sz="1200" dirty="0"/>
          </a:p>
        </p:txBody>
      </p:sp>
      <p:sp>
        <p:nvSpPr>
          <p:cNvPr id="21" name="Shape 19"/>
          <p:cNvSpPr/>
          <p:nvPr/>
        </p:nvSpPr>
        <p:spPr>
          <a:xfrm>
            <a:off x="457200" y="4754880"/>
            <a:ext cx="11247120" cy="1371600"/>
          </a:xfrm>
          <a:prstGeom prst="roundRect">
            <a:avLst>
              <a:gd name="adj" fmla="val 6667"/>
            </a:avLst>
          </a:prstGeom>
          <a:solidFill>
            <a:srgbClr val="13314D"/>
          </a:solidFill>
          <a:ln w="12700">
            <a:solidFill>
              <a:srgbClr val="5EA0EF"/>
            </a:solidFill>
            <a:prstDash val="solid"/>
          </a:ln>
        </p:spPr>
      </p:sp>
      <p:sp>
        <p:nvSpPr>
          <p:cNvPr id="22" name="Text 20"/>
          <p:cNvSpPr/>
          <p:nvPr/>
        </p:nvSpPr>
        <p:spPr>
          <a:xfrm>
            <a:off x="777240" y="4846320"/>
            <a:ext cx="4572000" cy="365760"/>
          </a:xfrm>
          <a:prstGeom prst="rect">
            <a:avLst/>
          </a:prstGeom>
          <a:noFill/>
          <a:ln/>
        </p:spPr>
        <p:txBody>
          <a:bodyPr wrap="square" rtlCol="0" anchor="ctr"/>
          <a:lstStyle/>
          <a:p>
            <a:pPr indent="0" marL="0">
              <a:buNone/>
            </a:pPr>
            <a:r>
              <a:rPr lang="en-US" sz="1200" b="1" spc="300" kern="0" dirty="0">
                <a:solidFill>
                  <a:srgbClr val="5EA0EF"/>
                </a:solidFill>
                <a:latin typeface="Calibri" pitchFamily="34" charset="0"/>
                <a:ea typeface="Calibri" pitchFamily="34" charset="-122"/>
                <a:cs typeface="Calibri" pitchFamily="34" charset="-120"/>
              </a:rPr>
              <a:t>Learn more</a:t>
            </a:r>
            <a:endParaRPr lang="en-US" sz="1200" dirty="0"/>
          </a:p>
        </p:txBody>
      </p:sp>
      <p:sp>
        <p:nvSpPr>
          <p:cNvPr id="23" name="Text 21"/>
          <p:cNvSpPr/>
          <p:nvPr/>
        </p:nvSpPr>
        <p:spPr>
          <a:xfrm>
            <a:off x="777240" y="5212080"/>
            <a:ext cx="10515600" cy="914400"/>
          </a:xfrm>
          <a:prstGeom prst="rect">
            <a:avLst/>
          </a:prstGeom>
          <a:noFill/>
          <a:ln/>
        </p:spPr>
        <p:txBody>
          <a:bodyPr wrap="square" rtlCol="0" anchor="ctr"/>
          <a:lstStyle/>
          <a:p>
            <a:pPr indent="0" marL="0">
              <a:spcAft>
                <a:spcPts val="400"/>
              </a:spcAft>
              <a:buNone/>
            </a:pPr>
            <a:r>
              <a:rPr lang="en-US" sz="1400" dirty="0">
                <a:solidFill>
                  <a:srgbClr val="FFFFFF"/>
                </a:solidFill>
                <a:latin typeface="Consolas" pitchFamily="34" charset="0"/>
                <a:ea typeface="Consolas" pitchFamily="34" charset="-122"/>
                <a:cs typeface="Consolas" pitchFamily="34" charset="-120"/>
              </a:rPr>
              <a:t>aka.ms/aks/nap   —   Node Auto Provisioning docs</a:t>
            </a:r>
            <a:endParaRPr lang="en-US" sz="1400" dirty="0"/>
          </a:p>
          <a:p>
            <a:pPr indent="0" marL="0">
              <a:spcAft>
                <a:spcPts val="400"/>
              </a:spcAft>
              <a:buNone/>
            </a:pPr>
            <a:r>
              <a:rPr lang="en-US" sz="1400" dirty="0">
                <a:solidFill>
                  <a:srgbClr val="FFFFFF"/>
                </a:solidFill>
                <a:latin typeface="Consolas" pitchFamily="34" charset="0"/>
                <a:ea typeface="Consolas" pitchFamily="34" charset="-122"/>
                <a:cs typeface="Consolas" pitchFamily="34" charset="-120"/>
              </a:rPr>
              <a:t>aka.ms/agc        —   Application Gateway for Containers docs</a:t>
            </a:r>
            <a:endParaRPr lang="en-US" sz="1400" dirty="0"/>
          </a:p>
          <a:p>
            <a:pPr indent="0" marL="0">
              <a:spcAft>
                <a:spcPts val="400"/>
              </a:spcAft>
              <a:buNone/>
            </a:pPr>
            <a:r>
              <a:rPr lang="en-US" sz="1400" dirty="0">
                <a:solidFill>
                  <a:srgbClr val="FFFFFF"/>
                </a:solidFill>
                <a:latin typeface="Consolas" pitchFamily="34" charset="0"/>
                <a:ea typeface="Consolas" pitchFamily="34" charset="-122"/>
                <a:cs typeface="Consolas" pitchFamily="34" charset="-120"/>
              </a:rPr>
              <a:t>github.com/Vyshnavi-MSFT/nap-agc-demo   —   the live-demo repo</a:t>
            </a:r>
            <a:endParaRPr lang="en-US" sz="1400" dirty="0"/>
          </a:p>
        </p:txBody>
      </p:sp>
      <p:sp>
        <p:nvSpPr>
          <p:cNvPr id="24" name="Text 22"/>
          <p:cNvSpPr/>
          <p:nvPr/>
        </p:nvSpPr>
        <p:spPr>
          <a:xfrm>
            <a:off x="457200" y="6400800"/>
            <a:ext cx="11247120" cy="365760"/>
          </a:xfrm>
          <a:prstGeom prst="rect">
            <a:avLst/>
          </a:prstGeom>
          <a:noFill/>
          <a:ln/>
        </p:spPr>
        <p:txBody>
          <a:bodyPr wrap="square" rtlCol="0" anchor="ctr"/>
          <a:lstStyle/>
          <a:p>
            <a:pPr algn="ctr" indent="0" marL="0">
              <a:buNone/>
            </a:pPr>
            <a:r>
              <a:rPr lang="en-US" sz="1100" dirty="0">
                <a:solidFill>
                  <a:srgbClr val="7A8A9E"/>
                </a:solidFill>
                <a:latin typeface="Calibri" pitchFamily="34" charset="0"/>
                <a:ea typeface="Calibri" pitchFamily="34" charset="-122"/>
                <a:cs typeface="Calibri" pitchFamily="34" charset="-120"/>
              </a:rPr>
              <a:t>Thank you · Vyshnavi Namani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AGC + NAP — A Beginner-Friendly Demo Companion</dc:title>
  <dc:subject>PptxGenJS Presentation</dc:subject>
  <dc:creator>Vyshnavi Namani</dc:creator>
  <cp:lastModifiedBy>Vyshnavi Namani</cp:lastModifiedBy>
  <cp:revision>1</cp:revision>
  <dcterms:created xsi:type="dcterms:W3CDTF">2026-05-02T06:22:17Z</dcterms:created>
  <dcterms:modified xsi:type="dcterms:W3CDTF">2026-05-02T06:22:17Z</dcterms:modified>
</cp:coreProperties>
</file>